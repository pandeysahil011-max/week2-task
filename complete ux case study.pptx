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ppt/theme/themeOverride2.xml" ContentType="application/vnd.openxmlformats-officedocument.themeOverr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18"/>
  </p:notesMasterIdLst>
  <p:sldIdLst>
    <p:sldId id="264" r:id="rId5"/>
    <p:sldId id="313" r:id="rId6"/>
    <p:sldId id="314" r:id="rId7"/>
    <p:sldId id="315" r:id="rId8"/>
    <p:sldId id="316" r:id="rId9"/>
    <p:sldId id="317" r:id="rId10"/>
    <p:sldId id="318" r:id="rId11"/>
    <p:sldId id="319" r:id="rId12"/>
    <p:sldId id="320" r:id="rId13"/>
    <p:sldId id="321" r:id="rId14"/>
    <p:sldId id="322" r:id="rId15"/>
    <p:sldId id="323" r:id="rId16"/>
    <p:sldId id="31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19" autoAdjust="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C6DBDFE-DD3D-4291-A404-1B97A83A6EA8}" type="datetimeFigureOut">
              <a:rPr lang="en-US" smtClean="0"/>
              <a:t>6/15/2026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6456DE3-4E01-4AFD-AD42-42312842ED89}" type="slidenum">
              <a:rPr lang="en-US" smtClean="0"/>
              <a:t>‹#›</a:t>
            </a:fld>
            <a:endParaRPr lang="en-US" dirty="0"/>
          </a:p>
        </p:txBody>
      </p:sp>
    </p:spTree>
    <p:extLst>
      <p:ext uri="{BB962C8B-B14F-4D97-AF65-F5344CB8AC3E}">
        <p14:creationId xmlns:p14="http://schemas.microsoft.com/office/powerpoint/2010/main" val="7029615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AEA074-24A7-4657-AE02-A51F68EA6AA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498700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AEA074-24A7-4657-AE02-A51F68EA6AA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719048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04DB13E-F722-4ED6-BB00-556651E95281}"/>
              </a:ext>
            </a:extLst>
          </p:cNvPr>
          <p:cNvSpPr/>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10" name="Rectangle 9"/>
          <p:cNvSpPr/>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5135880" y="1267730"/>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7" name="Group 6">
            <a:extLst>
              <a:ext uri="{FF2B5EF4-FFF2-40B4-BE49-F238E27FC236}">
                <a16:creationId xmlns:a16="http://schemas.microsoft.com/office/drawing/2014/main" id="{E26428D7-C6F3-473D-A360-A3F5C3E8728C}"/>
              </a:ext>
            </a:extLst>
          </p:cNvPr>
          <p:cNvGrpSpPr/>
          <p:nvPr/>
        </p:nvGrpSpPr>
        <p:grpSpPr>
          <a:xfrm>
            <a:off x="5250180" y="1267730"/>
            <a:ext cx="1691640" cy="615934"/>
            <a:chOff x="5250180" y="1267730"/>
            <a:chExt cx="1691640" cy="615934"/>
          </a:xfrm>
        </p:grpSpPr>
        <p:cxnSp>
          <p:nvCxnSpPr>
            <p:cNvPr id="17" name="Straight Connector 16"/>
            <p:cNvCxnSpPr/>
            <p:nvPr/>
          </p:nvCxnSpPr>
          <p:spPr>
            <a:xfrm>
              <a:off x="525018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94182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250180" y="1883664"/>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629103" y="2244830"/>
            <a:ext cx="8933796" cy="2437232"/>
          </a:xfrm>
        </p:spPr>
        <p:txBody>
          <a:bodyPr tIns="45720" bIns="45720" anchor="ctr">
            <a:normAutofit/>
          </a:bodyPr>
          <a:lstStyle>
            <a:lvl1pPr algn="ctr">
              <a:lnSpc>
                <a:spcPct val="83000"/>
              </a:lnSpc>
              <a:defRPr lang="en-US" sz="6800" b="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Subtitle 2"/>
          <p:cNvSpPr>
            <a:spLocks noGrp="1"/>
          </p:cNvSpPr>
          <p:nvPr>
            <p:ph type="subTitle" idx="1"/>
          </p:nvPr>
        </p:nvSpPr>
        <p:spPr>
          <a:xfrm>
            <a:off x="1629101" y="4682062"/>
            <a:ext cx="8936846" cy="457201"/>
          </a:xfrm>
        </p:spPr>
        <p:txBody>
          <a:bodyPr>
            <a:normAutofit/>
          </a:bodyPr>
          <a:lstStyle>
            <a:lvl1pPr marL="0" indent="0" algn="ctr">
              <a:spcBef>
                <a:spcPts val="0"/>
              </a:spcBef>
              <a:buNone/>
              <a:defRPr sz="1800" spc="80" baseline="0">
                <a:solidFill>
                  <a:schemeClr val="tx1">
                    <a:lumMod val="95000"/>
                    <a:lumOff val="5000"/>
                  </a:schemeClr>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0" name="Date Placeholder 19"/>
          <p:cNvSpPr>
            <a:spLocks noGrp="1"/>
          </p:cNvSpPr>
          <p:nvPr>
            <p:ph type="dt" sz="half" idx="10"/>
          </p:nvPr>
        </p:nvSpPr>
        <p:spPr>
          <a:xfrm>
            <a:off x="5318760" y="1341256"/>
            <a:ext cx="1554480" cy="485546"/>
          </a:xfrm>
        </p:spPr>
        <p:txBody>
          <a:bodyPr/>
          <a:lstStyle>
            <a:lvl1pPr algn="ctr">
              <a:defRPr sz="1300" spc="0" baseline="0">
                <a:solidFill>
                  <a:srgbClr val="FFFFFF"/>
                </a:solidFill>
                <a:latin typeface="+mn-lt"/>
              </a:defRPr>
            </a:lvl1pPr>
          </a:lstStyle>
          <a:p>
            <a:fld id="{EA0C0817-A112-4847-8014-A94B7D2A4EA3}" type="datetime1">
              <a:rPr lang="en-US" smtClean="0"/>
              <a:t>6/15/2026</a:t>
            </a:fld>
            <a:endParaRPr lang="en-US" dirty="0"/>
          </a:p>
        </p:txBody>
      </p:sp>
      <p:sp>
        <p:nvSpPr>
          <p:cNvPr id="21" name="Footer Placeholder 20"/>
          <p:cNvSpPr>
            <a:spLocks noGrp="1"/>
          </p:cNvSpPr>
          <p:nvPr>
            <p:ph type="ftr" sz="quarter" idx="11"/>
          </p:nvPr>
        </p:nvSpPr>
        <p:spPr>
          <a:xfrm>
            <a:off x="1629100" y="5177408"/>
            <a:ext cx="5730295" cy="228600"/>
          </a:xfrm>
        </p:spPr>
        <p:txBody>
          <a:bodyPr/>
          <a:lstStyle>
            <a:lvl1pPr algn="l">
              <a:defRPr>
                <a:solidFill>
                  <a:schemeClr val="tx1">
                    <a:lumMod val="85000"/>
                    <a:lumOff val="15000"/>
                  </a:schemeClr>
                </a:solidFill>
              </a:defRPr>
            </a:lvl1pPr>
          </a:lstStyle>
          <a:p>
            <a:endParaRPr lang="en-US" dirty="0"/>
          </a:p>
        </p:txBody>
      </p:sp>
      <p:sp>
        <p:nvSpPr>
          <p:cNvPr id="22" name="Slide Number Placeholder 21"/>
          <p:cNvSpPr>
            <a:spLocks noGrp="1"/>
          </p:cNvSpPr>
          <p:nvPr>
            <p:ph type="sldNum" sz="quarter" idx="12"/>
          </p:nvPr>
        </p:nvSpPr>
        <p:spPr>
          <a:xfrm>
            <a:off x="8606920" y="5177408"/>
            <a:ext cx="1955980" cy="22860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11847017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32B432-ACDA-4023-A761-2BAB76577B62}" type="datetime1">
              <a:rPr lang="en-US" smtClean="0"/>
              <a:t>6/15/2026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25758817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0A4A1889-E37C-4EC3-9E41-9DAD221CF389}"/>
              </a:ext>
            </a:extLst>
          </p:cNvPr>
          <p:cNvSpPr/>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23" name="Rectangle 22"/>
          <p:cNvSpPr/>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5135880" y="1267730"/>
            <a:ext cx="1920240" cy="73152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629156" y="2275165"/>
            <a:ext cx="8933688" cy="2406895"/>
          </a:xfrm>
        </p:spPr>
        <p:txBody>
          <a:bodyPr anchor="ctr">
            <a:normAutofit/>
          </a:bodyPr>
          <a:lstStyle>
            <a:lvl1pPr algn="ctr">
              <a:lnSpc>
                <a:spcPct val="83000"/>
              </a:lnSpc>
              <a:defRPr lang="en-US" sz="680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grpSp>
        <p:nvGrpSpPr>
          <p:cNvPr id="16" name="Group 15">
            <a:extLst>
              <a:ext uri="{FF2B5EF4-FFF2-40B4-BE49-F238E27FC236}">
                <a16:creationId xmlns:a16="http://schemas.microsoft.com/office/drawing/2014/main" id="{1683EB04-C23E-490C-A1A6-030CF79D23C8}"/>
              </a:ext>
            </a:extLst>
          </p:cNvPr>
          <p:cNvGrpSpPr/>
          <p:nvPr/>
        </p:nvGrpSpPr>
        <p:grpSpPr>
          <a:xfrm>
            <a:off x="5250180" y="1267730"/>
            <a:ext cx="1691640" cy="615934"/>
            <a:chOff x="5250180" y="1267730"/>
            <a:chExt cx="1691640" cy="615934"/>
          </a:xfrm>
        </p:grpSpPr>
        <p:cxnSp>
          <p:nvCxnSpPr>
            <p:cNvPr id="17" name="Straight Connector 16">
              <a:extLst>
                <a:ext uri="{FF2B5EF4-FFF2-40B4-BE49-F238E27FC236}">
                  <a16:creationId xmlns:a16="http://schemas.microsoft.com/office/drawing/2014/main" id="{F8A84C03-E1CA-4A4E-81D6-9BB0C335B7A0}"/>
                </a:ext>
              </a:extLst>
            </p:cNvPr>
            <p:cNvCxnSpPr/>
            <p:nvPr/>
          </p:nvCxnSpPr>
          <p:spPr>
            <a:xfrm>
              <a:off x="525018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4A26FB5A-D5D1-4DAB-AC43-7F51A7F2D197}"/>
                </a:ext>
              </a:extLst>
            </p:cNvPr>
            <p:cNvCxnSpPr/>
            <p:nvPr/>
          </p:nvCxnSpPr>
          <p:spPr>
            <a:xfrm>
              <a:off x="694182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9303F14-E560-4C02-94F4-B4695FE26813}"/>
                </a:ext>
              </a:extLst>
            </p:cNvPr>
            <p:cNvCxnSpPr/>
            <p:nvPr/>
          </p:nvCxnSpPr>
          <p:spPr>
            <a:xfrm>
              <a:off x="5250180" y="1883664"/>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3" name="Text Placeholder 2"/>
          <p:cNvSpPr>
            <a:spLocks noGrp="1"/>
          </p:cNvSpPr>
          <p:nvPr>
            <p:ph type="body" idx="1"/>
          </p:nvPr>
        </p:nvSpPr>
        <p:spPr>
          <a:xfrm>
            <a:off x="1629156" y="4682062"/>
            <a:ext cx="8939784" cy="457200"/>
          </a:xfrm>
        </p:spPr>
        <p:txBody>
          <a:bodyPr anchor="t">
            <a:normAutofit/>
          </a:bodyPr>
          <a:lstStyle>
            <a:lvl1pPr marL="0" indent="0" algn="ctr">
              <a:buNone/>
              <a:tabLst>
                <a:tab pos="2633663" algn="l"/>
              </a:tabLst>
              <a:defRPr sz="1800">
                <a:solidFill>
                  <a:schemeClr val="tx1">
                    <a:lumMod val="95000"/>
                    <a:lumOff val="5000"/>
                  </a:schemeClr>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318760" y="1344502"/>
            <a:ext cx="1554480" cy="498781"/>
          </a:xfrm>
        </p:spPr>
        <p:txBody>
          <a:bodyPr/>
          <a:lstStyle>
            <a:lvl1pPr algn="ctr">
              <a:defRPr lang="en-US" sz="1300" kern="1200" spc="0" baseline="0">
                <a:solidFill>
                  <a:srgbClr val="FFFFFF"/>
                </a:solidFill>
                <a:latin typeface="+mn-lt"/>
                <a:ea typeface="+mn-ea"/>
                <a:cs typeface="+mn-cs"/>
              </a:defRPr>
            </a:lvl1pPr>
          </a:lstStyle>
          <a:p>
            <a:fld id="{D9C646AA-F36E-4540-911D-FFFC0A0EF24A}" type="datetime1">
              <a:rPr lang="en-US" smtClean="0"/>
              <a:t>6/15/2026</a:t>
            </a:fld>
            <a:endParaRPr lang="en-US" dirty="0"/>
          </a:p>
        </p:txBody>
      </p:sp>
      <p:sp>
        <p:nvSpPr>
          <p:cNvPr id="5" name="Footer Placeholder 4"/>
          <p:cNvSpPr>
            <a:spLocks noGrp="1"/>
          </p:cNvSpPr>
          <p:nvPr>
            <p:ph type="ftr" sz="quarter" idx="11"/>
          </p:nvPr>
        </p:nvSpPr>
        <p:spPr>
          <a:xfrm>
            <a:off x="1629157" y="5177408"/>
            <a:ext cx="5660134" cy="228600"/>
          </a:xfrm>
        </p:spPr>
        <p:txBody>
          <a:bodyPr/>
          <a:lstStyle>
            <a:lvl1pPr algn="l">
              <a:defRPr>
                <a:solidFill>
                  <a:schemeClr val="tx1">
                    <a:lumMod val="85000"/>
                    <a:lumOff val="15000"/>
                  </a:schemeClr>
                </a:solidFill>
              </a:defRPr>
            </a:lvl1pPr>
          </a:lstStyle>
          <a:p>
            <a:endParaRPr lang="en-US" dirty="0"/>
          </a:p>
        </p:txBody>
      </p:sp>
      <p:sp>
        <p:nvSpPr>
          <p:cNvPr id="6" name="Slide Number Placeholder 5"/>
          <p:cNvSpPr>
            <a:spLocks noGrp="1"/>
          </p:cNvSpPr>
          <p:nvPr>
            <p:ph type="sldNum" sz="quarter" idx="12"/>
          </p:nvPr>
        </p:nvSpPr>
        <p:spPr>
          <a:xfrm>
            <a:off x="8604504" y="5177408"/>
            <a:ext cx="1958339" cy="22860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21697321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6800" y="2103120"/>
            <a:ext cx="466344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61760" y="2103120"/>
            <a:ext cx="466344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9186D26-FA5F-4637-B602-B7C2DC34CFD4}" type="datetime1">
              <a:rPr lang="en-US" smtClean="0"/>
              <a:t>6/15/2026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35005825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9848" y="2074334"/>
            <a:ext cx="4663440" cy="640080"/>
          </a:xfrm>
        </p:spPr>
        <p:txBody>
          <a:bodyPr anchor="ctr">
            <a:normAutofit/>
          </a:bodyPr>
          <a:lstStyle>
            <a:lvl1pPr marL="0" indent="0" algn="l">
              <a:spcBef>
                <a:spcPts val="0"/>
              </a:spcBef>
              <a:buNone/>
              <a:defRPr sz="1900" b="1" i="0">
                <a:solidFill>
                  <a:schemeClr val="tx1"/>
                </a:solidFill>
                <a:latin typeface="+mn-lt"/>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92472"/>
            <a:ext cx="4663440" cy="3163825"/>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58712" y="2074334"/>
            <a:ext cx="4663440" cy="640080"/>
          </a:xfrm>
        </p:spPr>
        <p:txBody>
          <a:bodyPr anchor="ctr">
            <a:normAutofit/>
          </a:bodyPr>
          <a:lstStyle>
            <a:lvl1pPr marL="0" indent="0" algn="l">
              <a:spcBef>
                <a:spcPts val="0"/>
              </a:spcBef>
              <a:buNone/>
              <a:defRPr sz="1900" b="1">
                <a:solidFill>
                  <a:schemeClr val="tx1"/>
                </a:solidFill>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58712" y="2792471"/>
            <a:ext cx="4663440" cy="3164509"/>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A7F15D8-96D1-4781-BC50-CA8A088B2FE4}" type="datetime1">
              <a:rPr lang="en-US" smtClean="0"/>
              <a:t>6/15/2026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10207325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9A96C99-B8F8-4528-BD05-0E16E943DC09}" type="datetime1">
              <a:rPr lang="en-US" smtClean="0"/>
              <a:t>6/15/2026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10735875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3636942-C211-4B28-8DBD-C953E00AF71B}" type="datetime1">
              <a:rPr lang="en-US" smtClean="0"/>
              <a:t>6/15/2026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23753279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5E1BBF9-8BEF-4353-BA68-30AAF9EBD8D8}"/>
              </a:ext>
            </a:extLst>
          </p:cNvPr>
          <p:cNvSpPr/>
          <p:nvPr/>
        </p:nvSpPr>
        <p:spPr>
          <a:xfrm>
            <a:off x="8119870" y="237744"/>
            <a:ext cx="3826596"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a:extLst>
              <a:ext uri="{FF2B5EF4-FFF2-40B4-BE49-F238E27FC236}">
                <a16:creationId xmlns:a16="http://schemas.microsoft.com/office/drawing/2014/main" id="{5B941C21-2A5D-4912-AB06-1BB0C0EB6AE1}"/>
              </a:ext>
            </a:extLst>
          </p:cNvPr>
          <p:cNvSpPr/>
          <p:nvPr/>
        </p:nvSpPr>
        <p:spPr>
          <a:xfrm>
            <a:off x="8254660" y="374904"/>
            <a:ext cx="3557016"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458200" y="607392"/>
            <a:ext cx="3161963" cy="1645920"/>
          </a:xfrm>
        </p:spPr>
        <p:txBody>
          <a:bodyPr anchor="b">
            <a:normAutofit/>
          </a:bodyPr>
          <a:lstStyle>
            <a:lvl1pPr algn="l" defTabSz="914400" rtl="0" eaLnBrk="1" latinLnBrk="0" hangingPunct="1">
              <a:lnSpc>
                <a:spcPct val="100000"/>
              </a:lnSpc>
              <a:spcBef>
                <a:spcPct val="0"/>
              </a:spcBef>
              <a:buNone/>
              <a:defRPr lang="en-US" sz="3200" b="0" kern="1200" cap="none" spc="0" baseline="0" dirty="0">
                <a:solidFill>
                  <a:schemeClr val="tx1"/>
                </a:solidFill>
                <a:effectLst/>
                <a:latin typeface="+mj-lt"/>
                <a:ea typeface="+mn-ea"/>
                <a:cs typeface="+mn-cs"/>
              </a:defRPr>
            </a:lvl1pPr>
          </a:lstStyle>
          <a:p>
            <a:r>
              <a:rPr lang="en-US"/>
              <a:t>Click to edit Master title style</a:t>
            </a:r>
            <a:endParaRPr lang="en-US" dirty="0"/>
          </a:p>
        </p:txBody>
      </p:sp>
      <p:sp>
        <p:nvSpPr>
          <p:cNvPr id="3" name="Content Placeholder 2"/>
          <p:cNvSpPr>
            <a:spLocks noGrp="1"/>
          </p:cNvSpPr>
          <p:nvPr>
            <p:ph idx="1"/>
          </p:nvPr>
        </p:nvSpPr>
        <p:spPr>
          <a:xfrm>
            <a:off x="685800" y="609600"/>
            <a:ext cx="6858000" cy="5334000"/>
          </a:xfrm>
        </p:spPr>
        <p:txBody>
          <a:bodyPr/>
          <a:lstStyle>
            <a:lvl1pPr>
              <a:defRPr sz="19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58200" y="2336800"/>
            <a:ext cx="3161963" cy="3606800"/>
          </a:xfrm>
        </p:spPr>
        <p:txBody>
          <a:bodyPr>
            <a:normAutofit/>
          </a:bodyPr>
          <a:lstStyle>
            <a:lvl1pPr marL="0" indent="0">
              <a:lnSpc>
                <a:spcPct val="110000"/>
              </a:lnSpc>
              <a:spcBef>
                <a:spcPts val="800"/>
              </a:spcBef>
              <a:buNone/>
              <a:defRPr sz="18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a:xfrm>
            <a:off x="5588000" y="6035040"/>
            <a:ext cx="1955800" cy="365760"/>
          </a:xfrm>
        </p:spPr>
        <p:txBody>
          <a:bodyPr/>
          <a:lstStyle>
            <a:lvl1pPr>
              <a:defRPr>
                <a:solidFill>
                  <a:schemeClr val="tx1">
                    <a:lumMod val="85000"/>
                    <a:lumOff val="15000"/>
                  </a:schemeClr>
                </a:solidFill>
              </a:defRPr>
            </a:lvl1pPr>
          </a:lstStyle>
          <a:p>
            <a:fld id="{7E8D12A6-918A-48BD-8CB9-CA713993B0EA}" type="datetime1">
              <a:rPr lang="en-US" smtClean="0"/>
              <a:t>6/15/2026</a:t>
            </a:fld>
            <a:endParaRPr lang="en-US" dirty="0"/>
          </a:p>
        </p:txBody>
      </p:sp>
      <p:sp>
        <p:nvSpPr>
          <p:cNvPr id="9" name="Footer Placeholder 8"/>
          <p:cNvSpPr>
            <a:spLocks noGrp="1"/>
          </p:cNvSpPr>
          <p:nvPr>
            <p:ph type="ftr" sz="quarter" idx="11"/>
          </p:nvPr>
        </p:nvSpPr>
        <p:spPr>
          <a:xfrm>
            <a:off x="685801" y="6035040"/>
            <a:ext cx="4584700" cy="365760"/>
          </a:xfrm>
        </p:spPr>
        <p:txBody>
          <a:bodyPr/>
          <a:lstStyle>
            <a:lvl1pPr algn="l">
              <a:defRPr/>
            </a:lvl1pPr>
          </a:lstStyle>
          <a:p>
            <a:endParaRPr lang="en-US" dirty="0"/>
          </a:p>
        </p:txBody>
      </p:sp>
      <p:sp>
        <p:nvSpPr>
          <p:cNvPr id="11" name="Slide Number Placeholder 10"/>
          <p:cNvSpPr>
            <a:spLocks noGrp="1"/>
          </p:cNvSpPr>
          <p:nvPr>
            <p:ph type="sldNum" sz="quarter" idx="12"/>
          </p:nvPr>
        </p:nvSpPr>
        <p:spPr>
          <a:xfrm>
            <a:off x="10396728" y="6035040"/>
            <a:ext cx="1223435" cy="36576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24321606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687CA98-D9C7-497F-A1DA-7D22F8753BCE}"/>
              </a:ext>
            </a:extLst>
          </p:cNvPr>
          <p:cNvSpPr/>
          <p:nvPr/>
        </p:nvSpPr>
        <p:spPr>
          <a:xfrm>
            <a:off x="8119870" y="237744"/>
            <a:ext cx="3826596"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228599" y="237744"/>
            <a:ext cx="7696201" cy="6382512"/>
          </a:xfrm>
          <a:solidFill>
            <a:schemeClr val="accent1">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5" name="Date Placeholder 4"/>
          <p:cNvSpPr>
            <a:spLocks noGrp="1"/>
          </p:cNvSpPr>
          <p:nvPr>
            <p:ph type="dt" sz="half" idx="10"/>
          </p:nvPr>
        </p:nvSpPr>
        <p:spPr>
          <a:xfrm>
            <a:off x="5662337" y="6035040"/>
            <a:ext cx="2071963" cy="365760"/>
          </a:xfrm>
        </p:spPr>
        <p:txBody>
          <a:bodyPr/>
          <a:lstStyle>
            <a:lvl1pPr>
              <a:defRPr b="1">
                <a:solidFill>
                  <a:srgbClr val="FFFFFF"/>
                </a:solidFill>
                <a:effectLst>
                  <a:outerShdw blurRad="19050" dist="6350" dir="2700000" algn="tl" rotWithShape="0">
                    <a:prstClr val="black">
                      <a:alpha val="40000"/>
                    </a:prstClr>
                  </a:outerShdw>
                </a:effectLst>
              </a:defRPr>
            </a:lvl1pPr>
          </a:lstStyle>
          <a:p>
            <a:fld id="{E778CE86-875F-4587-BCF6-FA054AFC0D53}" type="datetime1">
              <a:rPr lang="en-US" smtClean="0"/>
              <a:pPr/>
              <a:t>6/15/2026</a:t>
            </a:fld>
            <a:endParaRPr lang="en-US" dirty="0"/>
          </a:p>
        </p:txBody>
      </p:sp>
      <p:sp>
        <p:nvSpPr>
          <p:cNvPr id="6" name="Footer Placeholder 5"/>
          <p:cNvSpPr>
            <a:spLocks noGrp="1"/>
          </p:cNvSpPr>
          <p:nvPr>
            <p:ph type="ftr" sz="quarter" idx="11"/>
          </p:nvPr>
        </p:nvSpPr>
        <p:spPr>
          <a:xfrm>
            <a:off x="612648" y="6035040"/>
            <a:ext cx="4588002" cy="365760"/>
          </a:xfrm>
        </p:spPr>
        <p:txBody>
          <a:bodyPr/>
          <a:lstStyle>
            <a:lvl1pPr marL="0" algn="r" defTabSz="914400" rtl="0" eaLnBrk="1" latinLnBrk="0" hangingPunct="1">
              <a:defRPr lang="en-US" sz="1000" b="1" kern="1200" dirty="0">
                <a:solidFill>
                  <a:srgbClr val="FFFFFF"/>
                </a:solidFill>
                <a:effectLst>
                  <a:outerShdw blurRad="19050" dist="6350" dir="2700000" algn="tl" rotWithShape="0">
                    <a:prstClr val="black">
                      <a:alpha val="40000"/>
                    </a:prstClr>
                  </a:outerShdw>
                </a:effectLst>
                <a:latin typeface="+mn-lt"/>
                <a:ea typeface="+mn-ea"/>
                <a:cs typeface="+mn-cs"/>
              </a:defRPr>
            </a:lvl1pPr>
          </a:lstStyle>
          <a:p>
            <a:pPr algn="l"/>
            <a:endParaRPr lang="en-US" dirty="0"/>
          </a:p>
        </p:txBody>
      </p:sp>
      <p:sp>
        <p:nvSpPr>
          <p:cNvPr id="7" name="Slide Number Placeholder 6"/>
          <p:cNvSpPr>
            <a:spLocks noGrp="1"/>
          </p:cNvSpPr>
          <p:nvPr>
            <p:ph type="sldNum" sz="quarter" idx="12"/>
          </p:nvPr>
        </p:nvSpPr>
        <p:spPr>
          <a:xfrm>
            <a:off x="10396728" y="6035040"/>
            <a:ext cx="1225296" cy="365760"/>
          </a:xfrm>
        </p:spPr>
        <p:txBody>
          <a:bodyPr/>
          <a:lstStyle/>
          <a:p>
            <a:fld id="{34B7E4EF-A1BD-40F4-AB7B-04F084DD991D}" type="slidenum">
              <a:rPr lang="en-US" smtClean="0"/>
              <a:t>‹#›</a:t>
            </a:fld>
            <a:endParaRPr lang="en-US" dirty="0"/>
          </a:p>
        </p:txBody>
      </p:sp>
      <p:sp>
        <p:nvSpPr>
          <p:cNvPr id="12" name="Rectangle 11">
            <a:extLst>
              <a:ext uri="{FF2B5EF4-FFF2-40B4-BE49-F238E27FC236}">
                <a16:creationId xmlns:a16="http://schemas.microsoft.com/office/drawing/2014/main" id="{F8B3D8CC-BB13-41A5-8F34-B8E84A4F9534}"/>
              </a:ext>
            </a:extLst>
          </p:cNvPr>
          <p:cNvSpPr/>
          <p:nvPr/>
        </p:nvSpPr>
        <p:spPr>
          <a:xfrm>
            <a:off x="8254660" y="374904"/>
            <a:ext cx="3557016"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477250" y="603504"/>
            <a:ext cx="3144774" cy="1645920"/>
          </a:xfrm>
        </p:spPr>
        <p:txBody>
          <a:bodyPr anchor="b">
            <a:noAutofit/>
          </a:bodyPr>
          <a:lstStyle>
            <a:lvl1pPr algn="l">
              <a:lnSpc>
                <a:spcPct val="100000"/>
              </a:lnSpc>
              <a:defRPr sz="3200" b="0">
                <a:solidFill>
                  <a:schemeClr val="tx1"/>
                </a:solidFill>
                <a:latin typeface="+mj-lt"/>
              </a:defRPr>
            </a:lvl1pPr>
          </a:lstStyle>
          <a:p>
            <a:r>
              <a:rPr lang="en-US"/>
              <a:t>Click to edit Master title style</a:t>
            </a:r>
            <a:endParaRPr lang="en-US" dirty="0"/>
          </a:p>
        </p:txBody>
      </p:sp>
      <p:sp>
        <p:nvSpPr>
          <p:cNvPr id="4" name="Text Placeholder 3"/>
          <p:cNvSpPr>
            <a:spLocks noGrp="1"/>
          </p:cNvSpPr>
          <p:nvPr>
            <p:ph type="body" sz="half" idx="2"/>
          </p:nvPr>
        </p:nvSpPr>
        <p:spPr>
          <a:xfrm>
            <a:off x="8477250" y="2386584"/>
            <a:ext cx="3144774" cy="3511296"/>
          </a:xfrm>
        </p:spPr>
        <p:txBody>
          <a:bodyPr>
            <a:normAutofit/>
          </a:bodyPr>
          <a:lstStyle>
            <a:lvl1pPr marL="0" indent="0" algn="l">
              <a:lnSpc>
                <a:spcPct val="110000"/>
              </a:lnSpc>
              <a:spcBef>
                <a:spcPts val="800"/>
              </a:spcBef>
              <a:buNone/>
              <a:defRPr sz="18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0991036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E94681D-2A4C-4A8D-B9B5-31D440D0328D}"/>
              </a:ext>
            </a:extLst>
          </p:cNvPr>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p:cNvSpPr/>
          <p:nvPr/>
        </p:nvSpPr>
        <p:spPr>
          <a:xfrm>
            <a:off x="234696" y="237744"/>
            <a:ext cx="11722608" cy="6382512"/>
          </a:xfrm>
          <a:prstGeom prst="rect">
            <a:avLst/>
          </a:prstGeom>
          <a:solidFill>
            <a:schemeClr val="bg1">
              <a:lumMod val="75000"/>
              <a:alpha val="60000"/>
            </a:schemeClr>
          </a:solidFill>
          <a:ln w="6350" cap="flat" cmpd="sng" algn="ctr">
            <a:noFill/>
            <a:prstDash val="solid"/>
          </a:ln>
          <a:effectLst>
            <a:softEdge rad="0"/>
          </a:effectLst>
        </p:spPr>
      </p:sp>
      <p:sp>
        <p:nvSpPr>
          <p:cNvPr id="8" name="Rectangle 7"/>
          <p:cNvSpPr/>
          <p:nvPr/>
        </p:nvSpPr>
        <p:spPr>
          <a:xfrm>
            <a:off x="371856" y="374904"/>
            <a:ext cx="11448288" cy="6108192"/>
          </a:xfrm>
          <a:prstGeom prst="rect">
            <a:avLst/>
          </a:prstGeom>
          <a:noFill/>
          <a:ln w="6350" cap="sq" cmpd="sng" algn="ctr">
            <a:solidFill>
              <a:schemeClr val="tx1">
                <a:lumMod val="85000"/>
                <a:lumOff val="15000"/>
              </a:schemeClr>
            </a:solidFill>
            <a:prstDash val="solid"/>
            <a:miter lim="800000"/>
          </a:ln>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6800" y="2103120"/>
            <a:ext cx="10058400" cy="384962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56794" y="6035040"/>
            <a:ext cx="2893045" cy="365760"/>
          </a:xfrm>
          <a:prstGeom prst="rect">
            <a:avLst/>
          </a:prstGeom>
        </p:spPr>
        <p:txBody>
          <a:bodyPr vert="horz" lIns="91440" tIns="45720" rIns="91440" bIns="45720" rtlCol="0" anchor="b"/>
          <a:lstStyle>
            <a:lvl1pPr algn="r">
              <a:defRPr sz="800">
                <a:solidFill>
                  <a:schemeClr val="tx1">
                    <a:lumMod val="75000"/>
                    <a:lumOff val="25000"/>
                  </a:schemeClr>
                </a:solidFill>
              </a:defRPr>
            </a:lvl1pPr>
          </a:lstStyle>
          <a:p>
            <a:fld id="{F6FA2B21-3FCD-4721-B95C-427943F61125}" type="datetime1">
              <a:rPr lang="en-US" smtClean="0"/>
              <a:t>6/15/2026</a:t>
            </a:fld>
            <a:endParaRPr lang="en-US" dirty="0"/>
          </a:p>
        </p:txBody>
      </p:sp>
      <p:sp>
        <p:nvSpPr>
          <p:cNvPr id="5" name="Footer Placeholder 4"/>
          <p:cNvSpPr>
            <a:spLocks noGrp="1"/>
          </p:cNvSpPr>
          <p:nvPr>
            <p:ph type="ftr" sz="quarter" idx="3"/>
          </p:nvPr>
        </p:nvSpPr>
        <p:spPr>
          <a:xfrm>
            <a:off x="1066800" y="6035040"/>
            <a:ext cx="5816600" cy="365760"/>
          </a:xfrm>
          <a:prstGeom prst="rect">
            <a:avLst/>
          </a:prstGeom>
        </p:spPr>
        <p:txBody>
          <a:bodyPr vert="horz" lIns="91440" tIns="45720" rIns="91440" bIns="45720" rtlCol="0" anchor="b"/>
          <a:lstStyle>
            <a:lvl1pPr algn="l">
              <a:defRPr sz="800">
                <a:solidFill>
                  <a:schemeClr val="tx1">
                    <a:lumMod val="85000"/>
                    <a:lumOff val="15000"/>
                  </a:schemeClr>
                </a:solidFill>
              </a:defRPr>
            </a:lvl1pPr>
          </a:lstStyle>
          <a:p>
            <a:endParaRPr lang="en-US" dirty="0"/>
          </a:p>
        </p:txBody>
      </p:sp>
      <p:sp>
        <p:nvSpPr>
          <p:cNvPr id="6" name="Slide Number Placeholder 5"/>
          <p:cNvSpPr>
            <a:spLocks noGrp="1"/>
          </p:cNvSpPr>
          <p:nvPr>
            <p:ph type="sldNum" sz="quarter" idx="4"/>
          </p:nvPr>
        </p:nvSpPr>
        <p:spPr>
          <a:xfrm>
            <a:off x="10287000" y="6035040"/>
            <a:ext cx="838200" cy="365760"/>
          </a:xfrm>
          <a:prstGeom prst="rect">
            <a:avLst/>
          </a:prstGeom>
        </p:spPr>
        <p:txBody>
          <a:bodyPr vert="horz" lIns="91440" tIns="45720" rIns="91440" bIns="45720" rtlCol="0" anchor="b"/>
          <a:lstStyle>
            <a:lvl1pPr algn="r">
              <a:defRPr sz="800">
                <a:solidFill>
                  <a:schemeClr val="tx1">
                    <a:lumMod val="75000"/>
                    <a:lumOff val="2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27209014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Lst>
  <p:hf sldNum="0" hdr="0" ftr="0" dt="0"/>
  <p:txStyles>
    <p:titleStyle>
      <a:lvl1pPr algn="l" defTabSz="914400" rtl="0" eaLnBrk="1" latinLnBrk="0" hangingPunct="1">
        <a:lnSpc>
          <a:spcPct val="90000"/>
        </a:lnSpc>
        <a:spcBef>
          <a:spcPct val="0"/>
        </a:spcBef>
        <a:buNone/>
        <a:defRPr lang="en-US" sz="4000" i="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10000"/>
        </a:lnSpc>
        <a:spcBef>
          <a:spcPts val="900"/>
        </a:spcBef>
        <a:spcAft>
          <a:spcPts val="0"/>
        </a:spcAft>
        <a:buClr>
          <a:schemeClr val="tx1">
            <a:lumMod val="85000"/>
            <a:lumOff val="15000"/>
          </a:schemeClr>
        </a:buClr>
        <a:buFont typeface="Garamond" pitchFamily="18" charset="0"/>
        <a:buChar char="◦"/>
        <a:defRPr sz="15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3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2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2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2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hemeOverride" Target="../theme/themeOverride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hemeOverride" Target="../theme/themeOverride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8" name="Picture 7" descr="flower illustrations">
            <a:extLst>
              <a:ext uri="{FF2B5EF4-FFF2-40B4-BE49-F238E27FC236}">
                <a16:creationId xmlns:a16="http://schemas.microsoft.com/office/drawing/2014/main" id="{46768272-0F6A-4E58-A45C-F10D015D8952}"/>
              </a:ext>
            </a:extLst>
          </p:cNvPr>
          <p:cNvPicPr>
            <a:picLocks noChangeAspect="1"/>
          </p:cNvPicPr>
          <p:nvPr/>
        </p:nvPicPr>
        <p:blipFill rotWithShape="1">
          <a:blip r:embed="rId4">
            <a:extLst>
              <a:ext uri="{28A0092B-C50C-407E-A947-70E740481C1C}">
                <a14:useLocalDpi xmlns:a14="http://schemas.microsoft.com/office/drawing/2010/main" val="0"/>
              </a:ext>
            </a:extLst>
          </a:blip>
          <a:srcRect/>
          <a:stretch/>
        </p:blipFill>
        <p:spPr>
          <a:xfrm>
            <a:off x="20" y="-839"/>
            <a:ext cx="12191980" cy="6858000"/>
          </a:xfrm>
          <a:prstGeom prst="rect">
            <a:avLst/>
          </a:prstGeom>
        </p:spPr>
      </p:pic>
      <p:sp useBgFill="1">
        <p:nvSpPr>
          <p:cNvPr id="73" name="Rectangle 72">
            <a:extLst>
              <a:ext uri="{FF2B5EF4-FFF2-40B4-BE49-F238E27FC236}">
                <a16:creationId xmlns:a16="http://schemas.microsoft.com/office/drawing/2014/main" id="{BF9FFE17-DE95-4821-ACC1-B90C954492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sp>
      <p:sp>
        <p:nvSpPr>
          <p:cNvPr id="75" name="Rectangle 74">
            <a:extLst>
              <a:ext uri="{FF2B5EF4-FFF2-40B4-BE49-F238E27FC236}">
                <a16:creationId xmlns:a16="http://schemas.microsoft.com/office/drawing/2014/main" id="{03CF76AF-FF72-4430-A772-0584032902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2" name="Title 1">
            <a:extLst>
              <a:ext uri="{FF2B5EF4-FFF2-40B4-BE49-F238E27FC236}">
                <a16:creationId xmlns:a16="http://schemas.microsoft.com/office/drawing/2014/main" id="{18C3B467-088C-4F3D-A9A7-105C4E1E20CD}"/>
              </a:ext>
            </a:extLst>
          </p:cNvPr>
          <p:cNvSpPr>
            <a:spLocks noGrp="1"/>
          </p:cNvSpPr>
          <p:nvPr>
            <p:ph type="ctrTitle"/>
          </p:nvPr>
        </p:nvSpPr>
        <p:spPr>
          <a:xfrm>
            <a:off x="1771132" y="2091263"/>
            <a:ext cx="8649738" cy="1337737"/>
          </a:xfrm>
        </p:spPr>
        <p:txBody>
          <a:bodyPr>
            <a:normAutofit/>
          </a:bodyPr>
          <a:lstStyle/>
          <a:p>
            <a:r>
              <a:rPr lang="en-US" sz="6800" b="1" u="sng" dirty="0"/>
              <a:t>Med Alert</a:t>
            </a:r>
          </a:p>
        </p:txBody>
      </p:sp>
      <p:sp>
        <p:nvSpPr>
          <p:cNvPr id="3" name="Subtitle 2">
            <a:extLst>
              <a:ext uri="{FF2B5EF4-FFF2-40B4-BE49-F238E27FC236}">
                <a16:creationId xmlns:a16="http://schemas.microsoft.com/office/drawing/2014/main" id="{C8722DDC-8EEE-4A06-8DFE-B44871EAA2CF}"/>
              </a:ext>
            </a:extLst>
          </p:cNvPr>
          <p:cNvSpPr>
            <a:spLocks noGrp="1"/>
          </p:cNvSpPr>
          <p:nvPr>
            <p:ph type="subTitle" idx="1"/>
          </p:nvPr>
        </p:nvSpPr>
        <p:spPr>
          <a:xfrm>
            <a:off x="1771130" y="3521014"/>
            <a:ext cx="8652788" cy="1618250"/>
          </a:xfrm>
        </p:spPr>
        <p:txBody>
          <a:bodyPr>
            <a:normAutofit/>
          </a:bodyPr>
          <a:lstStyle/>
          <a:p>
            <a:pPr>
              <a:spcAft>
                <a:spcPts val="600"/>
              </a:spcAft>
            </a:pPr>
            <a:r>
              <a:rPr lang="en-US" b="1" u="sng" dirty="0"/>
              <a:t>A Medicine Reminder Mobile Application </a:t>
            </a:r>
          </a:p>
          <a:p>
            <a:pPr>
              <a:spcAft>
                <a:spcPts val="600"/>
              </a:spcAft>
            </a:pPr>
            <a:r>
              <a:rPr lang="en-US" sz="1800" dirty="0"/>
              <a:t>UX C</a:t>
            </a:r>
            <a:r>
              <a:rPr lang="en-US" dirty="0"/>
              <a:t>ase Study Using Design Thinking Process </a:t>
            </a:r>
          </a:p>
          <a:p>
            <a:pPr>
              <a:spcAft>
                <a:spcPts val="600"/>
              </a:spcAft>
            </a:pPr>
            <a:endParaRPr lang="en-US" sz="1800" dirty="0"/>
          </a:p>
          <a:p>
            <a:pPr>
              <a:spcAft>
                <a:spcPts val="600"/>
              </a:spcAft>
            </a:pPr>
            <a:r>
              <a:rPr lang="en-US" b="1" u="sng" dirty="0"/>
              <a:t>Prepared By:-</a:t>
            </a:r>
            <a:r>
              <a:rPr lang="en-US" b="1" dirty="0"/>
              <a:t> </a:t>
            </a:r>
            <a:r>
              <a:rPr lang="en-US" dirty="0"/>
              <a:t>SAHIL PANDEY </a:t>
            </a:r>
            <a:endParaRPr lang="en-US" sz="1800" dirty="0"/>
          </a:p>
        </p:txBody>
      </p:sp>
      <p:sp>
        <p:nvSpPr>
          <p:cNvPr id="77" name="Rectangle 76">
            <a:extLst>
              <a:ext uri="{FF2B5EF4-FFF2-40B4-BE49-F238E27FC236}">
                <a16:creationId xmlns:a16="http://schemas.microsoft.com/office/drawing/2014/main" id="{0B1C8180-2FDD-4202-8C45-4057CB1AB2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5880" y="1267730"/>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79" name="Straight Connector 78">
            <a:extLst>
              <a:ext uri="{FF2B5EF4-FFF2-40B4-BE49-F238E27FC236}">
                <a16:creationId xmlns:a16="http://schemas.microsoft.com/office/drawing/2014/main" id="{D6E86CC6-13EA-4A88-86AD-CF27BF52CC9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250180" y="1267730"/>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3F80B441-4F7D-4B40-8A13-FED03A1F3A1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941820" y="1267730"/>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70C7FD1A-44B1-4E4C-B0C9-A8103DCCDCC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250180" y="1913025"/>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280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A4D5A43-5A25-C4E7-0B80-3D16E319F471}"/>
              </a:ext>
            </a:extLst>
          </p:cNvPr>
          <p:cNvSpPr>
            <a:spLocks noGrp="1"/>
          </p:cNvSpPr>
          <p:nvPr>
            <p:ph type="title"/>
          </p:nvPr>
        </p:nvSpPr>
        <p:spPr/>
        <p:txBody>
          <a:bodyPr/>
          <a:lstStyle/>
          <a:p>
            <a:pPr algn="ctr"/>
            <a:r>
              <a:rPr lang="en-IN" b="1" u="sng" dirty="0"/>
              <a:t>Problem Statement</a:t>
            </a:r>
          </a:p>
        </p:txBody>
      </p:sp>
      <p:sp>
        <p:nvSpPr>
          <p:cNvPr id="5" name="Content Placeholder 4">
            <a:extLst>
              <a:ext uri="{FF2B5EF4-FFF2-40B4-BE49-F238E27FC236}">
                <a16:creationId xmlns:a16="http://schemas.microsoft.com/office/drawing/2014/main" id="{5F99EBDE-565F-36E4-E38F-68C8231FDB3E}"/>
              </a:ext>
            </a:extLst>
          </p:cNvPr>
          <p:cNvSpPr>
            <a:spLocks noGrp="1"/>
          </p:cNvSpPr>
          <p:nvPr>
            <p:ph sz="half" idx="1"/>
          </p:nvPr>
        </p:nvSpPr>
        <p:spPr>
          <a:xfrm>
            <a:off x="1288026" y="2470815"/>
            <a:ext cx="3495367" cy="3376891"/>
          </a:xfrm>
        </p:spPr>
        <p:txBody>
          <a:bodyPr>
            <a:normAutofit fontScale="92500" lnSpcReduction="10000"/>
          </a:bodyPr>
          <a:lstStyle/>
          <a:p>
            <a:pPr marL="0" indent="0">
              <a:buNone/>
            </a:pPr>
            <a:r>
              <a:rPr lang="en-US" sz="1400" dirty="0"/>
              <a:t>Many people forget to take their medicines on time because of busy schedules, daily responsibilities, or simply forgetting the prescribed dosage timings. Missing medicines can reduce the effectiveness of treatment and may lead to health-related complications.</a:t>
            </a:r>
          </a:p>
          <a:p>
            <a:pPr marL="0" indent="0">
              <a:buNone/>
            </a:pPr>
            <a:r>
              <a:rPr lang="en-US" sz="1400" dirty="0"/>
              <a:t>To solve this problem, </a:t>
            </a:r>
            <a:r>
              <a:rPr lang="en-US" sz="1400" dirty="0" err="1"/>
              <a:t>MedAlert</a:t>
            </a:r>
            <a:r>
              <a:rPr lang="en-US" sz="1400" dirty="0"/>
              <a:t> is designed as a simple and user-friendly medicine reminder application that helps users manage their medication schedules and receive timely reminders.</a:t>
            </a:r>
            <a:endParaRPr lang="en-IN" sz="1400" dirty="0"/>
          </a:p>
        </p:txBody>
      </p:sp>
      <p:sp>
        <p:nvSpPr>
          <p:cNvPr id="6" name="Content Placeholder 5">
            <a:extLst>
              <a:ext uri="{FF2B5EF4-FFF2-40B4-BE49-F238E27FC236}">
                <a16:creationId xmlns:a16="http://schemas.microsoft.com/office/drawing/2014/main" id="{F10B9A32-86FB-2B52-CCB3-B230CBE6D07F}"/>
              </a:ext>
            </a:extLst>
          </p:cNvPr>
          <p:cNvSpPr>
            <a:spLocks noGrp="1"/>
          </p:cNvSpPr>
          <p:nvPr>
            <p:ph sz="half" idx="2"/>
          </p:nvPr>
        </p:nvSpPr>
        <p:spPr>
          <a:xfrm>
            <a:off x="7138219" y="2103118"/>
            <a:ext cx="3765755" cy="4112286"/>
          </a:xfrm>
        </p:spPr>
        <p:txBody>
          <a:bodyPr>
            <a:normAutofit fontScale="92500" lnSpcReduction="10000"/>
          </a:bodyPr>
          <a:lstStyle/>
          <a:p>
            <a:pPr marL="0" indent="0">
              <a:buNone/>
            </a:pPr>
            <a:r>
              <a:rPr lang="en-IN" b="1" u="sng" dirty="0"/>
              <a:t>Objectives</a:t>
            </a:r>
          </a:p>
          <a:p>
            <a:pPr>
              <a:buFont typeface="Arial" panose="020B0604020202020204" pitchFamily="34" charset="0"/>
              <a:buChar char="•"/>
            </a:pPr>
            <a:r>
              <a:rPr lang="en-US" sz="1500" dirty="0"/>
              <a:t>Help users take medicines on time.</a:t>
            </a:r>
          </a:p>
          <a:p>
            <a:pPr>
              <a:buFont typeface="Arial" panose="020B0604020202020204" pitchFamily="34" charset="0"/>
              <a:buChar char="•"/>
            </a:pPr>
            <a:r>
              <a:rPr lang="en-US" sz="1500" dirty="0"/>
              <a:t>Reduce missed doses and medication errors.</a:t>
            </a:r>
          </a:p>
          <a:p>
            <a:pPr>
              <a:buFont typeface="Arial" panose="020B0604020202020204" pitchFamily="34" charset="0"/>
              <a:buChar char="•"/>
            </a:pPr>
            <a:r>
              <a:rPr lang="en-US" sz="1500" dirty="0"/>
              <a:t>Provide a simple way to manage medicine schedules.</a:t>
            </a:r>
          </a:p>
          <a:p>
            <a:pPr>
              <a:buFont typeface="Arial" panose="020B0604020202020204" pitchFamily="34" charset="0"/>
              <a:buChar char="•"/>
            </a:pPr>
            <a:r>
              <a:rPr lang="en-US" sz="1500" dirty="0"/>
              <a:t>Track completed and missed medications.</a:t>
            </a:r>
          </a:p>
          <a:p>
            <a:pPr marL="0" indent="0">
              <a:buNone/>
            </a:pPr>
            <a:r>
              <a:rPr lang="en-IN" b="1" u="sng" dirty="0"/>
              <a:t>Target Users</a:t>
            </a:r>
          </a:p>
          <a:p>
            <a:pPr>
              <a:buFont typeface="Arial" panose="020B0604020202020204" pitchFamily="34" charset="0"/>
              <a:buChar char="•"/>
            </a:pPr>
            <a:r>
              <a:rPr lang="en-US" sz="1500" dirty="0"/>
              <a:t>Elderly people</a:t>
            </a:r>
          </a:p>
          <a:p>
            <a:pPr>
              <a:buFont typeface="Arial" panose="020B0604020202020204" pitchFamily="34" charset="0"/>
              <a:buChar char="•"/>
            </a:pPr>
            <a:r>
              <a:rPr lang="en-US" sz="1500" dirty="0"/>
              <a:t>Working professionals</a:t>
            </a:r>
          </a:p>
          <a:p>
            <a:pPr>
              <a:buFont typeface="Arial" panose="020B0604020202020204" pitchFamily="34" charset="0"/>
              <a:buChar char="•"/>
            </a:pPr>
            <a:r>
              <a:rPr lang="en-US" sz="1500" dirty="0"/>
              <a:t>Patients on long-term medication</a:t>
            </a:r>
          </a:p>
          <a:p>
            <a:pPr>
              <a:buFont typeface="Arial" panose="020B0604020202020204" pitchFamily="34" charset="0"/>
              <a:buChar char="•"/>
            </a:pPr>
            <a:r>
              <a:rPr lang="en-US" sz="1500" dirty="0"/>
              <a:t>Family members caring for patients</a:t>
            </a:r>
            <a:endParaRPr lang="en-IN" sz="1500" dirty="0"/>
          </a:p>
        </p:txBody>
      </p:sp>
      <p:pic>
        <p:nvPicPr>
          <p:cNvPr id="8" name="Picture 7">
            <a:extLst>
              <a:ext uri="{FF2B5EF4-FFF2-40B4-BE49-F238E27FC236}">
                <a16:creationId xmlns:a16="http://schemas.microsoft.com/office/drawing/2014/main" id="{93947A9D-30EB-1CE6-3BC9-EBECC29902DF}"/>
              </a:ext>
            </a:extLst>
          </p:cNvPr>
          <p:cNvPicPr>
            <a:picLocks noChangeAspect="1"/>
          </p:cNvPicPr>
          <p:nvPr/>
        </p:nvPicPr>
        <p:blipFill>
          <a:blip r:embed="rId2"/>
          <a:stretch>
            <a:fillRect/>
          </a:stretch>
        </p:blipFill>
        <p:spPr>
          <a:xfrm>
            <a:off x="4859593" y="2721079"/>
            <a:ext cx="2202425" cy="2202425"/>
          </a:xfrm>
          <a:prstGeom prst="rect">
            <a:avLst/>
          </a:prstGeom>
        </p:spPr>
      </p:pic>
    </p:spTree>
    <p:extLst>
      <p:ext uri="{BB962C8B-B14F-4D97-AF65-F5344CB8AC3E}">
        <p14:creationId xmlns:p14="http://schemas.microsoft.com/office/powerpoint/2010/main" val="5479137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FB239E-59C1-035F-BCFF-5442B56B78C7}"/>
              </a:ext>
            </a:extLst>
          </p:cNvPr>
          <p:cNvSpPr>
            <a:spLocks noGrp="1"/>
          </p:cNvSpPr>
          <p:nvPr>
            <p:ph type="title"/>
          </p:nvPr>
        </p:nvSpPr>
        <p:spPr/>
        <p:txBody>
          <a:bodyPr/>
          <a:lstStyle/>
          <a:p>
            <a:pPr algn="ctr"/>
            <a:r>
              <a:rPr lang="en-IN" b="1" u="sng" dirty="0"/>
              <a:t>Empathize – Understanding the Users</a:t>
            </a:r>
          </a:p>
        </p:txBody>
      </p:sp>
      <p:sp>
        <p:nvSpPr>
          <p:cNvPr id="3" name="Content Placeholder 2">
            <a:extLst>
              <a:ext uri="{FF2B5EF4-FFF2-40B4-BE49-F238E27FC236}">
                <a16:creationId xmlns:a16="http://schemas.microsoft.com/office/drawing/2014/main" id="{3D7EF5A8-6269-0349-AC76-C61A7F9976CA}"/>
              </a:ext>
            </a:extLst>
          </p:cNvPr>
          <p:cNvSpPr>
            <a:spLocks noGrp="1"/>
          </p:cNvSpPr>
          <p:nvPr>
            <p:ph sz="half" idx="1"/>
          </p:nvPr>
        </p:nvSpPr>
        <p:spPr>
          <a:xfrm>
            <a:off x="1066800" y="2014194"/>
            <a:ext cx="4663440" cy="4307948"/>
          </a:xfrm>
        </p:spPr>
        <p:txBody>
          <a:bodyPr>
            <a:normAutofit fontScale="92500" lnSpcReduction="10000"/>
          </a:bodyPr>
          <a:lstStyle/>
          <a:p>
            <a:pPr marL="0" indent="0">
              <a:buNone/>
            </a:pPr>
            <a:r>
              <a:rPr lang="en-US" sz="1500" dirty="0"/>
              <a:t>To understand the challenges faced by people in managing their medications, interviews were conducted with 5 individuals who regularly take medicines or help family members manage their medication schedules.</a:t>
            </a:r>
          </a:p>
          <a:p>
            <a:pPr marL="0" indent="0">
              <a:buNone/>
            </a:pPr>
            <a:r>
              <a:rPr lang="en-US" sz="1900" b="1" u="sng" dirty="0"/>
              <a:t>User Feedback</a:t>
            </a:r>
          </a:p>
          <a:p>
            <a:pPr>
              <a:buFont typeface="Arial" panose="020B0604020202020204" pitchFamily="34" charset="0"/>
              <a:buChar char="•"/>
            </a:pPr>
            <a:r>
              <a:rPr lang="en-US" sz="1500" dirty="0"/>
              <a:t>Users often forget to take medicines due to busy daily routines.</a:t>
            </a:r>
          </a:p>
          <a:p>
            <a:pPr>
              <a:buFont typeface="Arial" panose="020B0604020202020204" pitchFamily="34" charset="0"/>
              <a:buChar char="•"/>
            </a:pPr>
            <a:r>
              <a:rPr lang="en-US" sz="1500" dirty="0"/>
              <a:t>Many users rely on alarms, but they sometimes ignore or miss them.</a:t>
            </a:r>
          </a:p>
          <a:p>
            <a:pPr>
              <a:buFont typeface="Arial" panose="020B0604020202020204" pitchFamily="34" charset="0"/>
              <a:buChar char="•"/>
            </a:pPr>
            <a:r>
              <a:rPr lang="en-US" sz="1500" dirty="0"/>
              <a:t>Keeping track of multiple medicines can be confusing.</a:t>
            </a:r>
          </a:p>
          <a:p>
            <a:pPr>
              <a:buFont typeface="Arial" panose="020B0604020202020204" pitchFamily="34" charset="0"/>
              <a:buChar char="•"/>
            </a:pPr>
            <a:r>
              <a:rPr lang="en-US" sz="1500" dirty="0"/>
              <a:t>Elderly users prefer simple and easy-to-use applications.</a:t>
            </a:r>
          </a:p>
          <a:p>
            <a:pPr>
              <a:buFont typeface="Arial" panose="020B0604020202020204" pitchFamily="34" charset="0"/>
              <a:buChar char="•"/>
            </a:pPr>
            <a:r>
              <a:rPr lang="en-US" sz="1500" dirty="0"/>
              <a:t>Users want reminders along with a way to track missed and completed doses</a:t>
            </a:r>
            <a:r>
              <a:rPr lang="en-US" sz="1400" dirty="0"/>
              <a:t>.</a:t>
            </a:r>
            <a:endParaRPr lang="en-IN" sz="1400" dirty="0"/>
          </a:p>
        </p:txBody>
      </p:sp>
      <p:sp>
        <p:nvSpPr>
          <p:cNvPr id="4" name="Content Placeholder 3">
            <a:extLst>
              <a:ext uri="{FF2B5EF4-FFF2-40B4-BE49-F238E27FC236}">
                <a16:creationId xmlns:a16="http://schemas.microsoft.com/office/drawing/2014/main" id="{56103088-9D1C-D690-2DA4-6AB3E1817A89}"/>
              </a:ext>
            </a:extLst>
          </p:cNvPr>
          <p:cNvSpPr>
            <a:spLocks noGrp="1"/>
          </p:cNvSpPr>
          <p:nvPr>
            <p:ph sz="half" idx="2"/>
          </p:nvPr>
        </p:nvSpPr>
        <p:spPr>
          <a:xfrm>
            <a:off x="6461760" y="2103120"/>
            <a:ext cx="4663440" cy="4219022"/>
          </a:xfrm>
        </p:spPr>
        <p:txBody>
          <a:bodyPr>
            <a:normAutofit fontScale="92500" lnSpcReduction="10000"/>
          </a:bodyPr>
          <a:lstStyle/>
          <a:p>
            <a:pPr marL="0" indent="0">
              <a:buNone/>
            </a:pPr>
            <a:endParaRPr lang="en-IN" sz="1900" b="1" u="sng" dirty="0"/>
          </a:p>
          <a:p>
            <a:pPr marL="0" indent="0">
              <a:buNone/>
            </a:pPr>
            <a:r>
              <a:rPr lang="en-IN" sz="1900" b="1" u="sng" dirty="0"/>
              <a:t>Key User Needs</a:t>
            </a:r>
          </a:p>
          <a:p>
            <a:r>
              <a:rPr lang="en-IN" sz="1500" dirty="0"/>
              <a:t>✅ Timely medicine reminders</a:t>
            </a:r>
          </a:p>
          <a:p>
            <a:r>
              <a:rPr lang="en-IN" sz="1500" dirty="0"/>
              <a:t>✅ Easy medication tracking</a:t>
            </a:r>
          </a:p>
          <a:p>
            <a:r>
              <a:rPr lang="en-IN" sz="1500" dirty="0"/>
              <a:t>✅ Simple and user-friendly interface</a:t>
            </a:r>
          </a:p>
          <a:p>
            <a:r>
              <a:rPr lang="en-IN" sz="1500" dirty="0"/>
              <a:t>✅ Clear notification system</a:t>
            </a:r>
          </a:p>
          <a:p>
            <a:endParaRPr lang="en-IN" sz="1500" dirty="0"/>
          </a:p>
          <a:p>
            <a:pPr marL="0" indent="0">
              <a:buNone/>
            </a:pPr>
            <a:r>
              <a:rPr lang="en-US" sz="1900" b="1" u="sng" dirty="0"/>
              <a:t>Research Goal</a:t>
            </a:r>
          </a:p>
          <a:p>
            <a:pPr marL="0" indent="0">
              <a:buNone/>
            </a:pPr>
            <a:r>
              <a:rPr lang="en-US" sz="1500" dirty="0"/>
              <a:t>The goal of this research was to identify common problems and understand what users expect from a medicine reminder application.</a:t>
            </a:r>
            <a:endParaRPr lang="en-IN" sz="1500" dirty="0"/>
          </a:p>
        </p:txBody>
      </p:sp>
    </p:spTree>
    <p:extLst>
      <p:ext uri="{BB962C8B-B14F-4D97-AF65-F5344CB8AC3E}">
        <p14:creationId xmlns:p14="http://schemas.microsoft.com/office/powerpoint/2010/main" val="36082193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9EC83-63D2-96FE-D568-80678DE853AA}"/>
              </a:ext>
            </a:extLst>
          </p:cNvPr>
          <p:cNvSpPr>
            <a:spLocks noGrp="1"/>
          </p:cNvSpPr>
          <p:nvPr>
            <p:ph type="title"/>
          </p:nvPr>
        </p:nvSpPr>
        <p:spPr>
          <a:xfrm>
            <a:off x="1066800" y="642594"/>
            <a:ext cx="10058400" cy="1087883"/>
          </a:xfrm>
        </p:spPr>
        <p:txBody>
          <a:bodyPr/>
          <a:lstStyle/>
          <a:p>
            <a:pPr algn="ctr"/>
            <a:r>
              <a:rPr lang="en-IN" b="1" u="sng" dirty="0"/>
              <a:t>Research Findings</a:t>
            </a:r>
          </a:p>
        </p:txBody>
      </p:sp>
      <p:sp>
        <p:nvSpPr>
          <p:cNvPr id="3" name="Content Placeholder 2">
            <a:extLst>
              <a:ext uri="{FF2B5EF4-FFF2-40B4-BE49-F238E27FC236}">
                <a16:creationId xmlns:a16="http://schemas.microsoft.com/office/drawing/2014/main" id="{3D95E7BF-CAE5-3A5E-D9E8-8EA4E50668AB}"/>
              </a:ext>
            </a:extLst>
          </p:cNvPr>
          <p:cNvSpPr>
            <a:spLocks noGrp="1"/>
          </p:cNvSpPr>
          <p:nvPr>
            <p:ph sz="half" idx="1"/>
          </p:nvPr>
        </p:nvSpPr>
        <p:spPr>
          <a:xfrm>
            <a:off x="540775" y="1759972"/>
            <a:ext cx="5378244" cy="4650660"/>
          </a:xfrm>
        </p:spPr>
        <p:txBody>
          <a:bodyPr>
            <a:normAutofit fontScale="62500" lnSpcReduction="20000"/>
          </a:bodyPr>
          <a:lstStyle/>
          <a:p>
            <a:pPr marL="0" indent="0">
              <a:buNone/>
            </a:pPr>
            <a:r>
              <a:rPr lang="en-US" sz="2500" dirty="0"/>
              <a:t>After conducting interviews with users, several common patterns and challenges were identified.</a:t>
            </a:r>
          </a:p>
          <a:p>
            <a:pPr marL="0" indent="0">
              <a:buNone/>
            </a:pPr>
            <a:r>
              <a:rPr lang="en-US" sz="3300" b="1" u="sng" dirty="0"/>
              <a:t>Key Findings</a:t>
            </a:r>
          </a:p>
          <a:p>
            <a:pPr marL="0" indent="0">
              <a:buNone/>
            </a:pPr>
            <a:r>
              <a:rPr lang="en-US" sz="2900" b="1" dirty="0"/>
              <a:t>Missed Medication</a:t>
            </a:r>
          </a:p>
          <a:p>
            <a:pPr>
              <a:buFont typeface="Arial" panose="020B0604020202020204" pitchFamily="34" charset="0"/>
              <a:buChar char="•"/>
            </a:pPr>
            <a:r>
              <a:rPr lang="en-US" sz="2500" dirty="0"/>
              <a:t>Most users reported missing at least one dose in the past month.</a:t>
            </a:r>
          </a:p>
          <a:p>
            <a:pPr marL="0" indent="0">
              <a:buNone/>
            </a:pPr>
            <a:r>
              <a:rPr lang="en-US" sz="2900" b="1" dirty="0"/>
              <a:t>Dependence on Memory</a:t>
            </a:r>
          </a:p>
          <a:p>
            <a:pPr>
              <a:buFont typeface="Arial" panose="020B0604020202020204" pitchFamily="34" charset="0"/>
              <a:buChar char="•"/>
            </a:pPr>
            <a:r>
              <a:rPr lang="en-US" sz="2500" dirty="0"/>
              <a:t>Many users rely on memory instead of a proper tracking system.</a:t>
            </a:r>
          </a:p>
          <a:p>
            <a:pPr marL="0" indent="0">
              <a:buNone/>
            </a:pPr>
            <a:r>
              <a:rPr lang="en-US" sz="2900" b="1" dirty="0"/>
              <a:t>Alarm Limitations</a:t>
            </a:r>
          </a:p>
          <a:p>
            <a:pPr>
              <a:buFont typeface="Arial" panose="020B0604020202020204" pitchFamily="34" charset="0"/>
              <a:buChar char="•"/>
            </a:pPr>
            <a:r>
              <a:rPr lang="en-US" sz="2500" dirty="0"/>
              <a:t>Traditional phone alarms are often ignored or dismissed.</a:t>
            </a:r>
          </a:p>
          <a:p>
            <a:pPr marL="0" indent="0">
              <a:buNone/>
            </a:pPr>
            <a:r>
              <a:rPr lang="en-US" sz="2900" b="1" dirty="0"/>
              <a:t>Multiple Medicines</a:t>
            </a:r>
          </a:p>
          <a:p>
            <a:pPr>
              <a:buFont typeface="Arial" panose="020B0604020202020204" pitchFamily="34" charset="0"/>
              <a:buChar char="•"/>
            </a:pPr>
            <a:r>
              <a:rPr lang="en-US" sz="2500" dirty="0"/>
              <a:t>Managing different medicines with different timings is difficult.</a:t>
            </a:r>
          </a:p>
        </p:txBody>
      </p:sp>
      <p:sp>
        <p:nvSpPr>
          <p:cNvPr id="4" name="Content Placeholder 3">
            <a:extLst>
              <a:ext uri="{FF2B5EF4-FFF2-40B4-BE49-F238E27FC236}">
                <a16:creationId xmlns:a16="http://schemas.microsoft.com/office/drawing/2014/main" id="{8206E006-B122-C5C7-E827-A7064DE5166A}"/>
              </a:ext>
            </a:extLst>
          </p:cNvPr>
          <p:cNvSpPr>
            <a:spLocks noGrp="1"/>
          </p:cNvSpPr>
          <p:nvPr>
            <p:ph sz="half" idx="2"/>
          </p:nvPr>
        </p:nvSpPr>
        <p:spPr>
          <a:xfrm>
            <a:off x="6096000" y="1720643"/>
            <a:ext cx="5555225" cy="4542504"/>
          </a:xfrm>
        </p:spPr>
        <p:txBody>
          <a:bodyPr>
            <a:normAutofit fontScale="62500" lnSpcReduction="20000"/>
          </a:bodyPr>
          <a:lstStyle/>
          <a:p>
            <a:pPr marL="0" indent="0">
              <a:buNone/>
            </a:pPr>
            <a:r>
              <a:rPr lang="en-US" sz="2900" b="1" dirty="0"/>
              <a:t>Need for Tracking</a:t>
            </a:r>
          </a:p>
          <a:p>
            <a:r>
              <a:rPr lang="en-US" sz="2200" dirty="0"/>
              <a:t>Users want to know which medicines have been taken and which are still pending.</a:t>
            </a:r>
          </a:p>
          <a:p>
            <a:endParaRPr lang="en-US" sz="3300" b="1" u="sng" dirty="0"/>
          </a:p>
          <a:p>
            <a:endParaRPr lang="en-US" sz="3300" b="1" u="sng" dirty="0"/>
          </a:p>
          <a:p>
            <a:pPr marL="0" indent="0">
              <a:buNone/>
            </a:pPr>
            <a:endParaRPr lang="en-US" sz="3300" b="1" u="sng" dirty="0"/>
          </a:p>
          <a:p>
            <a:endParaRPr lang="en-US" sz="3300" b="1" u="sng" dirty="0"/>
          </a:p>
          <a:p>
            <a:pPr marL="0" indent="0">
              <a:buNone/>
            </a:pPr>
            <a:r>
              <a:rPr lang="en-US" sz="3300" b="1" u="sng" dirty="0"/>
              <a:t>Summary of Insights</a:t>
            </a:r>
          </a:p>
          <a:p>
            <a:r>
              <a:rPr lang="en-US" sz="2200" dirty="0"/>
              <a:t>Users need a reliable reminder system.</a:t>
            </a:r>
          </a:p>
          <a:p>
            <a:r>
              <a:rPr lang="en-US" sz="2200" dirty="0"/>
              <a:t>Simplicity is important, especially for elderly users.</a:t>
            </a:r>
          </a:p>
          <a:p>
            <a:r>
              <a:rPr lang="en-US" sz="2200" dirty="0"/>
              <a:t>Tracking completed and missed doses can improve medication adherence.</a:t>
            </a:r>
          </a:p>
          <a:p>
            <a:r>
              <a:rPr lang="en-US" sz="2200" dirty="0"/>
              <a:t>Clear and timely notifications are essential.</a:t>
            </a:r>
            <a:endParaRPr lang="en-IN" sz="2200" dirty="0"/>
          </a:p>
        </p:txBody>
      </p:sp>
      <p:pic>
        <p:nvPicPr>
          <p:cNvPr id="6" name="Picture 5">
            <a:extLst>
              <a:ext uri="{FF2B5EF4-FFF2-40B4-BE49-F238E27FC236}">
                <a16:creationId xmlns:a16="http://schemas.microsoft.com/office/drawing/2014/main" id="{F747B22B-25D8-F336-043D-F467DA7B81A4}"/>
              </a:ext>
            </a:extLst>
          </p:cNvPr>
          <p:cNvPicPr>
            <a:picLocks noChangeAspect="1"/>
          </p:cNvPicPr>
          <p:nvPr/>
        </p:nvPicPr>
        <p:blipFill>
          <a:blip r:embed="rId2"/>
          <a:stretch>
            <a:fillRect/>
          </a:stretch>
        </p:blipFill>
        <p:spPr>
          <a:xfrm>
            <a:off x="9554805" y="2533222"/>
            <a:ext cx="1988266" cy="1988266"/>
          </a:xfrm>
          <a:prstGeom prst="rect">
            <a:avLst/>
          </a:prstGeom>
        </p:spPr>
      </p:pic>
    </p:spTree>
    <p:extLst>
      <p:ext uri="{BB962C8B-B14F-4D97-AF65-F5344CB8AC3E}">
        <p14:creationId xmlns:p14="http://schemas.microsoft.com/office/powerpoint/2010/main" val="30937307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5D3CF1-BB74-C831-B3F2-4C03D30802E6}"/>
              </a:ext>
            </a:extLst>
          </p:cNvPr>
          <p:cNvSpPr>
            <a:spLocks noGrp="1"/>
          </p:cNvSpPr>
          <p:nvPr>
            <p:ph type="title"/>
          </p:nvPr>
        </p:nvSpPr>
        <p:spPr/>
        <p:txBody>
          <a:bodyPr/>
          <a:lstStyle/>
          <a:p>
            <a:pPr algn="ctr"/>
            <a:r>
              <a:rPr lang="en-IN" b="1" u="sng" dirty="0"/>
              <a:t>Define – Problem Definition</a:t>
            </a:r>
          </a:p>
        </p:txBody>
      </p:sp>
      <p:sp>
        <p:nvSpPr>
          <p:cNvPr id="3" name="Content Placeholder 2">
            <a:extLst>
              <a:ext uri="{FF2B5EF4-FFF2-40B4-BE49-F238E27FC236}">
                <a16:creationId xmlns:a16="http://schemas.microsoft.com/office/drawing/2014/main" id="{673FAEFF-A971-10F0-B78A-5DD3AB055CB4}"/>
              </a:ext>
            </a:extLst>
          </p:cNvPr>
          <p:cNvSpPr>
            <a:spLocks noGrp="1"/>
          </p:cNvSpPr>
          <p:nvPr>
            <p:ph sz="half" idx="1"/>
          </p:nvPr>
        </p:nvSpPr>
        <p:spPr>
          <a:xfrm>
            <a:off x="1066799" y="2103120"/>
            <a:ext cx="4842387" cy="4219022"/>
          </a:xfrm>
        </p:spPr>
        <p:txBody>
          <a:bodyPr>
            <a:normAutofit/>
          </a:bodyPr>
          <a:lstStyle/>
          <a:p>
            <a:pPr marL="0" indent="0">
              <a:buNone/>
            </a:pPr>
            <a:r>
              <a:rPr lang="en-US" sz="1400" dirty="0"/>
              <a:t>Based on the user research, it was found that many people struggle to manage their medication schedules effectively. Users often forget to take medicines on time, miss important doses, or find it difficult to track multiple medications.</a:t>
            </a:r>
          </a:p>
          <a:p>
            <a:pPr marL="0" indent="0">
              <a:buNone/>
            </a:pPr>
            <a:r>
              <a:rPr lang="en-US" b="1" u="sng" dirty="0"/>
              <a:t>Problem Statement</a:t>
            </a:r>
          </a:p>
          <a:p>
            <a:pPr marL="0" indent="0">
              <a:buNone/>
            </a:pPr>
            <a:r>
              <a:rPr lang="en-US" sz="1400" dirty="0"/>
              <a:t>Users need a simple and reliable way to manage their medications because existing methods such as memory, notes, or basic alarms are often ineffective and can lead to missed doses.</a:t>
            </a:r>
            <a:endParaRPr lang="en-IN" sz="1400" dirty="0"/>
          </a:p>
        </p:txBody>
      </p:sp>
      <p:sp>
        <p:nvSpPr>
          <p:cNvPr id="4" name="Content Placeholder 3">
            <a:extLst>
              <a:ext uri="{FF2B5EF4-FFF2-40B4-BE49-F238E27FC236}">
                <a16:creationId xmlns:a16="http://schemas.microsoft.com/office/drawing/2014/main" id="{954EE928-7F78-6E9D-EAD1-34EF7A7759BC}"/>
              </a:ext>
            </a:extLst>
          </p:cNvPr>
          <p:cNvSpPr>
            <a:spLocks noGrp="1"/>
          </p:cNvSpPr>
          <p:nvPr>
            <p:ph sz="half" idx="2"/>
          </p:nvPr>
        </p:nvSpPr>
        <p:spPr>
          <a:xfrm>
            <a:off x="6282813" y="2103120"/>
            <a:ext cx="4842387" cy="4219022"/>
          </a:xfrm>
        </p:spPr>
        <p:txBody>
          <a:bodyPr/>
          <a:lstStyle/>
          <a:p>
            <a:pPr marL="0" indent="0">
              <a:buNone/>
            </a:pPr>
            <a:r>
              <a:rPr lang="en-US" b="1" u="sng" dirty="0"/>
              <a:t>User Needs</a:t>
            </a:r>
          </a:p>
          <a:p>
            <a:r>
              <a:rPr lang="en-US" sz="1400" dirty="0"/>
              <a:t>Timely and reliable reminders</a:t>
            </a:r>
          </a:p>
          <a:p>
            <a:r>
              <a:rPr lang="en-US" sz="1400" dirty="0"/>
              <a:t>Easy medication scheduling</a:t>
            </a:r>
          </a:p>
          <a:p>
            <a:r>
              <a:rPr lang="en-US" sz="1400" dirty="0"/>
              <a:t>Clear tracking of taken and missed doses</a:t>
            </a:r>
          </a:p>
          <a:p>
            <a:r>
              <a:rPr lang="en-US" sz="1400" dirty="0"/>
              <a:t>A simple and user-friendly interface</a:t>
            </a:r>
          </a:p>
          <a:p>
            <a:r>
              <a:rPr lang="en-US" sz="1400" dirty="0"/>
              <a:t>Notifications that are difficult to overlook</a:t>
            </a:r>
          </a:p>
          <a:p>
            <a:pPr marL="0" indent="0">
              <a:buNone/>
            </a:pPr>
            <a:r>
              <a:rPr lang="en-US" b="1" u="sng" dirty="0"/>
              <a:t>Design Challenge</a:t>
            </a:r>
          </a:p>
          <a:p>
            <a:pPr marL="0" indent="0">
              <a:buNone/>
            </a:pPr>
            <a:r>
              <a:rPr lang="en-US" sz="1400" dirty="0"/>
              <a:t>How can we help users remember and manage their medicines in a simple, effective, and stress-free way?</a:t>
            </a:r>
            <a:endParaRPr lang="en-IN" sz="1400" dirty="0"/>
          </a:p>
        </p:txBody>
      </p:sp>
    </p:spTree>
    <p:extLst>
      <p:ext uri="{BB962C8B-B14F-4D97-AF65-F5344CB8AC3E}">
        <p14:creationId xmlns:p14="http://schemas.microsoft.com/office/powerpoint/2010/main" val="20273066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F06916-22C7-7782-4F95-9958B3153104}"/>
              </a:ext>
            </a:extLst>
          </p:cNvPr>
          <p:cNvSpPr>
            <a:spLocks noGrp="1"/>
          </p:cNvSpPr>
          <p:nvPr>
            <p:ph type="title"/>
          </p:nvPr>
        </p:nvSpPr>
        <p:spPr/>
        <p:txBody>
          <a:bodyPr/>
          <a:lstStyle/>
          <a:p>
            <a:pPr algn="ctr"/>
            <a:r>
              <a:rPr lang="en-IN" b="1" u="sng" dirty="0"/>
              <a:t>User Persona</a:t>
            </a:r>
          </a:p>
        </p:txBody>
      </p:sp>
      <p:sp>
        <p:nvSpPr>
          <p:cNvPr id="3" name="Content Placeholder 2">
            <a:extLst>
              <a:ext uri="{FF2B5EF4-FFF2-40B4-BE49-F238E27FC236}">
                <a16:creationId xmlns:a16="http://schemas.microsoft.com/office/drawing/2014/main" id="{E89C670E-E8C5-12E3-4AA6-9609D3A39785}"/>
              </a:ext>
            </a:extLst>
          </p:cNvPr>
          <p:cNvSpPr>
            <a:spLocks noGrp="1"/>
          </p:cNvSpPr>
          <p:nvPr>
            <p:ph sz="half" idx="1"/>
          </p:nvPr>
        </p:nvSpPr>
        <p:spPr>
          <a:xfrm>
            <a:off x="894736" y="2014194"/>
            <a:ext cx="5043948" cy="4347277"/>
          </a:xfrm>
        </p:spPr>
        <p:txBody>
          <a:bodyPr>
            <a:normAutofit lnSpcReduction="10000"/>
          </a:bodyPr>
          <a:lstStyle/>
          <a:p>
            <a:pPr marL="0" indent="0">
              <a:buNone/>
            </a:pPr>
            <a:r>
              <a:rPr lang="en-US" sz="1400" dirty="0"/>
              <a:t>Name: Rajesh Kumar</a:t>
            </a:r>
          </a:p>
          <a:p>
            <a:pPr marL="0" indent="0">
              <a:buNone/>
            </a:pPr>
            <a:r>
              <a:rPr lang="en-US" sz="1400" dirty="0"/>
              <a:t>Age: 52 Years</a:t>
            </a:r>
          </a:p>
          <a:p>
            <a:pPr marL="0" indent="0">
              <a:buNone/>
            </a:pPr>
            <a:r>
              <a:rPr lang="en-US" sz="1400" dirty="0"/>
              <a:t>Occupation: Shop Owner</a:t>
            </a:r>
          </a:p>
          <a:p>
            <a:pPr marL="0" indent="0">
              <a:buNone/>
            </a:pPr>
            <a:r>
              <a:rPr lang="en-US" b="1" u="sng" dirty="0"/>
              <a:t>About</a:t>
            </a:r>
          </a:p>
          <a:p>
            <a:pPr marL="0" indent="0">
              <a:buNone/>
            </a:pPr>
            <a:r>
              <a:rPr lang="en-US" sz="1400" dirty="0"/>
              <a:t>Rajesh takes multiple medicines daily for diabetes and blood pressure. Due to his busy routine, he sometimes forgets to take medicines on time and finds it difficult to keep track of different medication schedules.</a:t>
            </a:r>
          </a:p>
          <a:p>
            <a:pPr marL="0" indent="0">
              <a:buNone/>
            </a:pPr>
            <a:r>
              <a:rPr lang="en-US" b="1" u="sng" dirty="0"/>
              <a:t>Goals</a:t>
            </a:r>
          </a:p>
          <a:p>
            <a:r>
              <a:rPr lang="en-US" sz="1400" dirty="0"/>
              <a:t>Take medicines on time</a:t>
            </a:r>
          </a:p>
          <a:p>
            <a:r>
              <a:rPr lang="en-US" sz="1400" dirty="0"/>
              <a:t>Maintain a healthy routine</a:t>
            </a:r>
          </a:p>
          <a:p>
            <a:r>
              <a:rPr lang="en-US" sz="1400" dirty="0"/>
              <a:t>Track daily medication intake</a:t>
            </a:r>
          </a:p>
          <a:p>
            <a:r>
              <a:rPr lang="en-US" sz="1400" dirty="0"/>
              <a:t>Avoid missing important doses</a:t>
            </a:r>
            <a:endParaRPr lang="en-IN" sz="1400" dirty="0"/>
          </a:p>
        </p:txBody>
      </p:sp>
      <p:sp>
        <p:nvSpPr>
          <p:cNvPr id="4" name="Content Placeholder 3">
            <a:extLst>
              <a:ext uri="{FF2B5EF4-FFF2-40B4-BE49-F238E27FC236}">
                <a16:creationId xmlns:a16="http://schemas.microsoft.com/office/drawing/2014/main" id="{C1EA290D-8AAE-05A8-E4BC-0CBE48CB2192}"/>
              </a:ext>
            </a:extLst>
          </p:cNvPr>
          <p:cNvSpPr>
            <a:spLocks noGrp="1"/>
          </p:cNvSpPr>
          <p:nvPr>
            <p:ph sz="half" idx="2"/>
          </p:nvPr>
        </p:nvSpPr>
        <p:spPr>
          <a:xfrm>
            <a:off x="6253317" y="2014194"/>
            <a:ext cx="5043947" cy="4347276"/>
          </a:xfrm>
        </p:spPr>
        <p:txBody>
          <a:bodyPr>
            <a:normAutofit lnSpcReduction="10000"/>
          </a:bodyPr>
          <a:lstStyle/>
          <a:p>
            <a:pPr marL="0" indent="0">
              <a:buNone/>
            </a:pPr>
            <a:r>
              <a:rPr lang="en-US" b="1" u="sng" dirty="0"/>
              <a:t>Frustrations</a:t>
            </a:r>
          </a:p>
          <a:p>
            <a:r>
              <a:rPr lang="en-US" sz="1400" dirty="0"/>
              <a:t>Forgetting medicine timings</a:t>
            </a:r>
          </a:p>
          <a:p>
            <a:r>
              <a:rPr lang="en-US" sz="1400" dirty="0"/>
              <a:t>Managing multiple medications</a:t>
            </a:r>
          </a:p>
          <a:p>
            <a:r>
              <a:rPr lang="en-US" sz="1400" dirty="0"/>
              <a:t>Missing doses during busy days</a:t>
            </a:r>
          </a:p>
          <a:p>
            <a:r>
              <a:rPr lang="en-US" sz="1400" dirty="0"/>
              <a:t>Difficulty tracking completed medicines</a:t>
            </a:r>
          </a:p>
          <a:p>
            <a:pPr marL="0" indent="0">
              <a:buNone/>
            </a:pPr>
            <a:r>
              <a:rPr lang="en-US" b="1" u="sng" dirty="0"/>
              <a:t>Needs</a:t>
            </a:r>
          </a:p>
          <a:p>
            <a:r>
              <a:rPr lang="en-US" sz="1400" dirty="0"/>
              <a:t> Timely reminders</a:t>
            </a:r>
          </a:p>
          <a:p>
            <a:r>
              <a:rPr lang="en-US" sz="1400" dirty="0"/>
              <a:t>Easy medication management</a:t>
            </a:r>
          </a:p>
          <a:p>
            <a:r>
              <a:rPr lang="en-US" sz="1400" dirty="0"/>
              <a:t>Simple and clear interface</a:t>
            </a:r>
          </a:p>
          <a:p>
            <a:r>
              <a:rPr lang="en-US" sz="1400" dirty="0"/>
              <a:t>Dose tracking feature</a:t>
            </a:r>
          </a:p>
          <a:p>
            <a:pPr marL="0" indent="0">
              <a:buNone/>
            </a:pPr>
            <a:r>
              <a:rPr lang="en-US" b="1" u="sng" dirty="0"/>
              <a:t>Quote</a:t>
            </a:r>
          </a:p>
          <a:p>
            <a:pPr marL="0" indent="0">
              <a:buNone/>
            </a:pPr>
            <a:r>
              <a:rPr lang="en-US" sz="1400" dirty="0"/>
              <a:t>“A simple reminder system would help me stay consistent with my medicines.”</a:t>
            </a:r>
            <a:endParaRPr lang="en-IN" sz="1400" dirty="0"/>
          </a:p>
        </p:txBody>
      </p:sp>
    </p:spTree>
    <p:extLst>
      <p:ext uri="{BB962C8B-B14F-4D97-AF65-F5344CB8AC3E}">
        <p14:creationId xmlns:p14="http://schemas.microsoft.com/office/powerpoint/2010/main" val="29496011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5ADE3A2-A53C-E9C7-23A9-CE07207F5362}"/>
              </a:ext>
            </a:extLst>
          </p:cNvPr>
          <p:cNvSpPr>
            <a:spLocks noGrp="1"/>
          </p:cNvSpPr>
          <p:nvPr>
            <p:ph type="title"/>
          </p:nvPr>
        </p:nvSpPr>
        <p:spPr/>
        <p:txBody>
          <a:bodyPr/>
          <a:lstStyle/>
          <a:p>
            <a:pPr algn="ctr"/>
            <a:r>
              <a:rPr lang="en-US" b="1" u="sng" dirty="0"/>
              <a:t>How Might We (HMW) Statement</a:t>
            </a:r>
            <a:endParaRPr lang="en-IN" b="1" u="sng" dirty="0"/>
          </a:p>
        </p:txBody>
      </p:sp>
      <p:sp>
        <p:nvSpPr>
          <p:cNvPr id="6" name="Content Placeholder 5">
            <a:extLst>
              <a:ext uri="{FF2B5EF4-FFF2-40B4-BE49-F238E27FC236}">
                <a16:creationId xmlns:a16="http://schemas.microsoft.com/office/drawing/2014/main" id="{256E8730-CB30-E510-65CF-85465CBCC4C5}"/>
              </a:ext>
            </a:extLst>
          </p:cNvPr>
          <p:cNvSpPr>
            <a:spLocks noGrp="1"/>
          </p:cNvSpPr>
          <p:nvPr>
            <p:ph idx="1"/>
          </p:nvPr>
        </p:nvSpPr>
        <p:spPr/>
        <p:txBody>
          <a:bodyPr/>
          <a:lstStyle/>
          <a:p>
            <a:pPr marL="0" indent="0">
              <a:buNone/>
            </a:pPr>
            <a:r>
              <a:rPr lang="en-US" sz="1800" b="1" u="sng" dirty="0"/>
              <a:t>How Might We?</a:t>
            </a:r>
          </a:p>
          <a:p>
            <a:pPr marL="0" indent="0">
              <a:buNone/>
            </a:pPr>
            <a:r>
              <a:rPr lang="en-US" dirty="0"/>
              <a:t>How might we help users remember their medicines on time and manage their medication schedules in a simple and stress-free way?</a:t>
            </a:r>
          </a:p>
          <a:p>
            <a:pPr marL="0" indent="0">
              <a:buNone/>
            </a:pPr>
            <a:endParaRPr lang="en-US" dirty="0"/>
          </a:p>
          <a:p>
            <a:pPr marL="0" indent="0">
              <a:buNone/>
            </a:pPr>
            <a:r>
              <a:rPr lang="en-US" sz="1800" b="1" u="sng" dirty="0"/>
              <a:t>Opportunities</a:t>
            </a:r>
          </a:p>
          <a:p>
            <a:r>
              <a:rPr lang="en-US" dirty="0"/>
              <a:t>Provide smart medicine reminders</a:t>
            </a:r>
          </a:p>
          <a:p>
            <a:r>
              <a:rPr lang="en-US" dirty="0"/>
              <a:t>Track missed and completed doses</a:t>
            </a:r>
          </a:p>
          <a:p>
            <a:r>
              <a:rPr lang="en-US" dirty="0"/>
              <a:t>Create an easy-to-use interface</a:t>
            </a:r>
          </a:p>
          <a:p>
            <a:r>
              <a:rPr lang="en-US" dirty="0"/>
              <a:t>Send timely notifications</a:t>
            </a:r>
          </a:p>
          <a:p>
            <a:r>
              <a:rPr lang="en-US" dirty="0"/>
              <a:t>Help users maintain medication consistency</a:t>
            </a:r>
            <a:endParaRPr lang="en-IN" dirty="0"/>
          </a:p>
        </p:txBody>
      </p:sp>
    </p:spTree>
    <p:extLst>
      <p:ext uri="{BB962C8B-B14F-4D97-AF65-F5344CB8AC3E}">
        <p14:creationId xmlns:p14="http://schemas.microsoft.com/office/powerpoint/2010/main" val="3574812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EF8116-6F31-D09F-5930-4A8CF81D488B}"/>
              </a:ext>
            </a:extLst>
          </p:cNvPr>
          <p:cNvSpPr>
            <a:spLocks noGrp="1"/>
          </p:cNvSpPr>
          <p:nvPr>
            <p:ph type="title"/>
          </p:nvPr>
        </p:nvSpPr>
        <p:spPr/>
        <p:txBody>
          <a:bodyPr/>
          <a:lstStyle/>
          <a:p>
            <a:pPr algn="ctr"/>
            <a:r>
              <a:rPr lang="en-IN" b="1" u="sng" dirty="0"/>
              <a:t>Ideation &amp; Solutions</a:t>
            </a:r>
          </a:p>
        </p:txBody>
      </p:sp>
      <p:sp>
        <p:nvSpPr>
          <p:cNvPr id="3" name="Content Placeholder 2">
            <a:extLst>
              <a:ext uri="{FF2B5EF4-FFF2-40B4-BE49-F238E27FC236}">
                <a16:creationId xmlns:a16="http://schemas.microsoft.com/office/drawing/2014/main" id="{78AC636F-C03A-E9DA-10DB-35AEA2885A2F}"/>
              </a:ext>
            </a:extLst>
          </p:cNvPr>
          <p:cNvSpPr>
            <a:spLocks noGrp="1"/>
          </p:cNvSpPr>
          <p:nvPr>
            <p:ph idx="1"/>
          </p:nvPr>
        </p:nvSpPr>
        <p:spPr/>
        <p:txBody>
          <a:bodyPr>
            <a:normAutofit fontScale="92500" lnSpcReduction="20000"/>
          </a:bodyPr>
          <a:lstStyle/>
          <a:p>
            <a:pPr marL="0" indent="0">
              <a:buNone/>
            </a:pPr>
            <a:r>
              <a:rPr lang="en-US" sz="1900" b="1" u="sng" dirty="0"/>
              <a:t>Ideation</a:t>
            </a:r>
          </a:p>
          <a:p>
            <a:pPr marL="0" indent="0">
              <a:buNone/>
            </a:pPr>
            <a:r>
              <a:rPr lang="en-US" dirty="0"/>
              <a:t>After brainstorming multiple ideas, the following features were selected for the application:</a:t>
            </a:r>
          </a:p>
          <a:p>
            <a:pPr marL="0" indent="0">
              <a:buNone/>
            </a:pPr>
            <a:r>
              <a:rPr lang="en-US" sz="1900" b="1" u="sng" dirty="0"/>
              <a:t>Proposed Features</a:t>
            </a:r>
          </a:p>
          <a:p>
            <a:r>
              <a:rPr lang="en-US" dirty="0"/>
              <a:t>Medicine Reminder Notifications</a:t>
            </a:r>
          </a:p>
          <a:p>
            <a:r>
              <a:rPr lang="en-US" dirty="0"/>
              <a:t>Add and Manage Medicines</a:t>
            </a:r>
          </a:p>
          <a:p>
            <a:r>
              <a:rPr lang="en-US" dirty="0"/>
              <a:t>Daily Medication Schedule</a:t>
            </a:r>
          </a:p>
          <a:p>
            <a:r>
              <a:rPr lang="en-US" dirty="0"/>
              <a:t>Dose Tracking</a:t>
            </a:r>
          </a:p>
          <a:p>
            <a:r>
              <a:rPr lang="en-US" dirty="0"/>
              <a:t>Missed Dose Alerts</a:t>
            </a:r>
          </a:p>
          <a:p>
            <a:r>
              <a:rPr lang="en-US" dirty="0"/>
              <a:t>User Profile Management</a:t>
            </a:r>
          </a:p>
          <a:p>
            <a:pPr marL="0" indent="0">
              <a:buNone/>
            </a:pPr>
            <a:r>
              <a:rPr lang="en-US" sz="1900" b="1" u="sng" dirty="0"/>
              <a:t>Selected Solution</a:t>
            </a:r>
          </a:p>
          <a:p>
            <a:pPr marL="0" indent="0">
              <a:buNone/>
            </a:pPr>
            <a:r>
              <a:rPr lang="en-US" dirty="0" err="1"/>
              <a:t>MedAlert</a:t>
            </a:r>
            <a:r>
              <a:rPr lang="en-US" dirty="0"/>
              <a:t> will provide reminders, medication tracking, and an easy-to-use interface to help users stay consistent with their medicines.</a:t>
            </a:r>
            <a:endParaRPr lang="en-IN" dirty="0"/>
          </a:p>
        </p:txBody>
      </p:sp>
    </p:spTree>
    <p:extLst>
      <p:ext uri="{BB962C8B-B14F-4D97-AF65-F5344CB8AC3E}">
        <p14:creationId xmlns:p14="http://schemas.microsoft.com/office/powerpoint/2010/main" val="389101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4C9F5F-9809-B2A7-567D-30163205E619}"/>
              </a:ext>
            </a:extLst>
          </p:cNvPr>
          <p:cNvSpPr>
            <a:spLocks noGrp="1"/>
          </p:cNvSpPr>
          <p:nvPr>
            <p:ph type="title"/>
          </p:nvPr>
        </p:nvSpPr>
        <p:spPr/>
        <p:txBody>
          <a:bodyPr/>
          <a:lstStyle/>
          <a:p>
            <a:pPr algn="ctr"/>
            <a:r>
              <a:rPr lang="en-IN" b="1" u="sng" dirty="0"/>
              <a:t>User Flow</a:t>
            </a:r>
          </a:p>
        </p:txBody>
      </p:sp>
      <p:sp>
        <p:nvSpPr>
          <p:cNvPr id="3" name="Content Placeholder 2">
            <a:extLst>
              <a:ext uri="{FF2B5EF4-FFF2-40B4-BE49-F238E27FC236}">
                <a16:creationId xmlns:a16="http://schemas.microsoft.com/office/drawing/2014/main" id="{913BBA3A-E2B7-8A7C-80DC-9C88E343BC02}"/>
              </a:ext>
            </a:extLst>
          </p:cNvPr>
          <p:cNvSpPr>
            <a:spLocks noGrp="1"/>
          </p:cNvSpPr>
          <p:nvPr>
            <p:ph sz="half" idx="1"/>
          </p:nvPr>
        </p:nvSpPr>
        <p:spPr>
          <a:xfrm>
            <a:off x="1066800" y="1917290"/>
            <a:ext cx="4663440" cy="4434349"/>
          </a:xfrm>
        </p:spPr>
        <p:txBody>
          <a:bodyPr>
            <a:normAutofit fontScale="85000" lnSpcReduction="20000"/>
          </a:bodyPr>
          <a:lstStyle/>
          <a:p>
            <a:pPr marL="0" indent="0">
              <a:buNone/>
            </a:pPr>
            <a:r>
              <a:rPr lang="en-IN" dirty="0"/>
              <a:t>Open App</a:t>
            </a:r>
          </a:p>
          <a:p>
            <a:pPr marL="0" indent="0">
              <a:buNone/>
            </a:pPr>
            <a:r>
              <a:rPr lang="en-IN" dirty="0"/>
              <a:t>⬇️</a:t>
            </a:r>
          </a:p>
          <a:p>
            <a:pPr marL="0" indent="0">
              <a:buNone/>
            </a:pPr>
            <a:r>
              <a:rPr lang="en-IN" dirty="0"/>
              <a:t>Login / Sign Up</a:t>
            </a:r>
          </a:p>
          <a:p>
            <a:pPr marL="0" indent="0">
              <a:buNone/>
            </a:pPr>
            <a:r>
              <a:rPr lang="en-IN" dirty="0"/>
              <a:t>⬇️</a:t>
            </a:r>
          </a:p>
          <a:p>
            <a:pPr marL="0" indent="0">
              <a:buNone/>
            </a:pPr>
            <a:r>
              <a:rPr lang="en-IN" dirty="0"/>
              <a:t>Add Medicine Details</a:t>
            </a:r>
          </a:p>
          <a:p>
            <a:pPr marL="0" indent="0">
              <a:buNone/>
            </a:pPr>
            <a:r>
              <a:rPr lang="en-IN" dirty="0"/>
              <a:t>⬇️</a:t>
            </a:r>
          </a:p>
          <a:p>
            <a:pPr marL="0" indent="0">
              <a:buNone/>
            </a:pPr>
            <a:r>
              <a:rPr lang="en-IN" dirty="0"/>
              <a:t>Set Reminder Time</a:t>
            </a:r>
          </a:p>
          <a:p>
            <a:pPr marL="0" indent="0">
              <a:buNone/>
            </a:pPr>
            <a:r>
              <a:rPr lang="en-IN" dirty="0"/>
              <a:t>⬇️</a:t>
            </a:r>
          </a:p>
          <a:p>
            <a:pPr marL="0" indent="0">
              <a:buNone/>
            </a:pPr>
            <a:r>
              <a:rPr lang="en-IN" dirty="0"/>
              <a:t>Receive Notification</a:t>
            </a:r>
          </a:p>
          <a:p>
            <a:pPr marL="0" indent="0">
              <a:buNone/>
            </a:pPr>
            <a:r>
              <a:rPr lang="en-IN" dirty="0"/>
              <a:t>⬇️</a:t>
            </a:r>
          </a:p>
          <a:p>
            <a:pPr marL="0" indent="0">
              <a:buNone/>
            </a:pPr>
            <a:r>
              <a:rPr lang="en-IN" dirty="0"/>
              <a:t>Mark Medicine as Taken</a:t>
            </a:r>
          </a:p>
          <a:p>
            <a:pPr marL="0" indent="0">
              <a:buNone/>
            </a:pPr>
            <a:r>
              <a:rPr lang="en-IN" dirty="0"/>
              <a:t>⬇️</a:t>
            </a:r>
          </a:p>
          <a:p>
            <a:pPr marL="0" indent="0">
              <a:buNone/>
            </a:pPr>
            <a:r>
              <a:rPr lang="en-IN" dirty="0"/>
              <a:t>Track Medication History</a:t>
            </a:r>
          </a:p>
        </p:txBody>
      </p:sp>
      <p:sp>
        <p:nvSpPr>
          <p:cNvPr id="4" name="Content Placeholder 3">
            <a:extLst>
              <a:ext uri="{FF2B5EF4-FFF2-40B4-BE49-F238E27FC236}">
                <a16:creationId xmlns:a16="http://schemas.microsoft.com/office/drawing/2014/main" id="{18C439D1-C29B-6DDA-558E-FFA24E24E84D}"/>
              </a:ext>
            </a:extLst>
          </p:cNvPr>
          <p:cNvSpPr>
            <a:spLocks noGrp="1"/>
          </p:cNvSpPr>
          <p:nvPr>
            <p:ph sz="half" idx="2"/>
          </p:nvPr>
        </p:nvSpPr>
        <p:spPr>
          <a:xfrm>
            <a:off x="6461760" y="1917291"/>
            <a:ext cx="4663440" cy="4434348"/>
          </a:xfrm>
        </p:spPr>
        <p:txBody>
          <a:bodyPr>
            <a:normAutofit fontScale="85000" lnSpcReduction="20000"/>
          </a:bodyPr>
          <a:lstStyle/>
          <a:p>
            <a:pPr marL="0" indent="0">
              <a:buNone/>
            </a:pPr>
            <a:endParaRPr lang="en-US" sz="2100" b="1" u="sng" dirty="0"/>
          </a:p>
          <a:p>
            <a:pPr marL="0" indent="0">
              <a:buNone/>
            </a:pPr>
            <a:endParaRPr lang="en-US" sz="2100" b="1" u="sng" dirty="0"/>
          </a:p>
          <a:p>
            <a:pPr marL="0" indent="0">
              <a:buNone/>
            </a:pPr>
            <a:endParaRPr lang="en-US" sz="2100" b="1" u="sng" dirty="0"/>
          </a:p>
          <a:p>
            <a:pPr marL="0" indent="0">
              <a:buNone/>
            </a:pPr>
            <a:r>
              <a:rPr lang="en-US" sz="2100" b="1" u="sng" dirty="0"/>
              <a:t>Goal</a:t>
            </a:r>
          </a:p>
          <a:p>
            <a:pPr marL="0" indent="0">
              <a:buNone/>
            </a:pPr>
            <a:r>
              <a:rPr lang="en-US" dirty="0"/>
              <a:t>To create a simple and smooth experience for users to manage their medicines efficiently.</a:t>
            </a:r>
            <a:endParaRPr lang="en-IN" dirty="0"/>
          </a:p>
        </p:txBody>
      </p:sp>
    </p:spTree>
    <p:extLst>
      <p:ext uri="{BB962C8B-B14F-4D97-AF65-F5344CB8AC3E}">
        <p14:creationId xmlns:p14="http://schemas.microsoft.com/office/powerpoint/2010/main" val="8982697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BADD87A-2CDE-DEDD-0283-D33BB223E1CC}"/>
              </a:ext>
            </a:extLst>
          </p:cNvPr>
          <p:cNvSpPr>
            <a:spLocks noGrp="1"/>
          </p:cNvSpPr>
          <p:nvPr>
            <p:ph type="title"/>
          </p:nvPr>
        </p:nvSpPr>
        <p:spPr>
          <a:xfrm>
            <a:off x="1066800" y="642594"/>
            <a:ext cx="10058400" cy="1078051"/>
          </a:xfrm>
        </p:spPr>
        <p:txBody>
          <a:bodyPr/>
          <a:lstStyle/>
          <a:p>
            <a:pPr algn="ctr"/>
            <a:r>
              <a:rPr lang="en-IN" b="1" u="sng" dirty="0"/>
              <a:t>Wireframes</a:t>
            </a:r>
          </a:p>
        </p:txBody>
      </p:sp>
      <p:sp>
        <p:nvSpPr>
          <p:cNvPr id="6" name="Content Placeholder 5">
            <a:extLst>
              <a:ext uri="{FF2B5EF4-FFF2-40B4-BE49-F238E27FC236}">
                <a16:creationId xmlns:a16="http://schemas.microsoft.com/office/drawing/2014/main" id="{BC5A8BFE-FBB3-4613-4149-234F33F007C7}"/>
              </a:ext>
            </a:extLst>
          </p:cNvPr>
          <p:cNvSpPr>
            <a:spLocks noGrp="1"/>
          </p:cNvSpPr>
          <p:nvPr>
            <p:ph idx="1"/>
          </p:nvPr>
        </p:nvSpPr>
        <p:spPr>
          <a:xfrm>
            <a:off x="1066800" y="1917290"/>
            <a:ext cx="10058400" cy="4434348"/>
          </a:xfrm>
        </p:spPr>
        <p:txBody>
          <a:bodyPr>
            <a:normAutofit/>
          </a:bodyPr>
          <a:lstStyle/>
          <a:p>
            <a:pPr marL="0" indent="0">
              <a:buNone/>
            </a:pPr>
            <a:r>
              <a:rPr lang="en-US" sz="1800" b="1" u="sng" dirty="0"/>
              <a:t>Low-Fidelity Wireframes</a:t>
            </a:r>
          </a:p>
          <a:p>
            <a:pPr marL="0" indent="0">
              <a:buNone/>
            </a:pPr>
            <a:r>
              <a:rPr lang="en-US" dirty="0"/>
              <a:t>The initial wireframes were created to visualize the structure and functionality of the application before designing the final interface.</a:t>
            </a:r>
          </a:p>
          <a:p>
            <a:pPr marL="0" indent="0">
              <a:buNone/>
            </a:pPr>
            <a:r>
              <a:rPr lang="en-US" sz="2000" b="1" u="sng" dirty="0"/>
              <a:t>Screens Included</a:t>
            </a:r>
          </a:p>
          <a:p>
            <a:pPr>
              <a:buFont typeface="Arial" panose="020B0604020202020204" pitchFamily="34" charset="0"/>
              <a:buChar char="•"/>
            </a:pPr>
            <a:r>
              <a:rPr lang="en-US" dirty="0"/>
              <a:t>Splash Screen</a:t>
            </a:r>
          </a:p>
          <a:p>
            <a:pPr>
              <a:buFont typeface="Arial" panose="020B0604020202020204" pitchFamily="34" charset="0"/>
              <a:buChar char="•"/>
            </a:pPr>
            <a:r>
              <a:rPr lang="en-US" dirty="0"/>
              <a:t>Login Screen</a:t>
            </a:r>
          </a:p>
          <a:p>
            <a:pPr>
              <a:buFont typeface="Arial" panose="020B0604020202020204" pitchFamily="34" charset="0"/>
              <a:buChar char="•"/>
            </a:pPr>
            <a:r>
              <a:rPr lang="en-US" dirty="0"/>
              <a:t>Home Screen</a:t>
            </a:r>
          </a:p>
          <a:p>
            <a:pPr>
              <a:buFont typeface="Arial" panose="020B0604020202020204" pitchFamily="34" charset="0"/>
              <a:buChar char="•"/>
            </a:pPr>
            <a:r>
              <a:rPr lang="en-US" dirty="0"/>
              <a:t>Add Medicine Screen</a:t>
            </a:r>
          </a:p>
          <a:p>
            <a:pPr>
              <a:buFont typeface="Arial" panose="020B0604020202020204" pitchFamily="34" charset="0"/>
              <a:buChar char="•"/>
            </a:pPr>
            <a:r>
              <a:rPr lang="en-US" dirty="0"/>
              <a:t>Reminder Screen</a:t>
            </a:r>
          </a:p>
          <a:p>
            <a:pPr>
              <a:buFont typeface="Arial" panose="020B0604020202020204" pitchFamily="34" charset="0"/>
              <a:buChar char="•"/>
            </a:pPr>
            <a:r>
              <a:rPr lang="en-US" dirty="0"/>
              <a:t>Profile Screen</a:t>
            </a:r>
          </a:p>
          <a:p>
            <a:pPr marL="0" indent="0">
              <a:buNone/>
            </a:pPr>
            <a:r>
              <a:rPr lang="en-US" sz="1800" b="1" u="sng" dirty="0"/>
              <a:t>Purpose</a:t>
            </a:r>
          </a:p>
          <a:p>
            <a:pPr marL="0" indent="0">
              <a:buNone/>
            </a:pPr>
            <a:r>
              <a:rPr lang="en-US" dirty="0"/>
              <a:t>To test the layout, navigation flow, and user interactions before moving to high-fidelity designs.</a:t>
            </a:r>
            <a:endParaRPr lang="en-IN" dirty="0"/>
          </a:p>
        </p:txBody>
      </p:sp>
    </p:spTree>
    <p:extLst>
      <p:ext uri="{BB962C8B-B14F-4D97-AF65-F5344CB8AC3E}">
        <p14:creationId xmlns:p14="http://schemas.microsoft.com/office/powerpoint/2010/main" val="2970107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775679-8509-B642-6C49-4096C1D6E3A2}"/>
              </a:ext>
            </a:extLst>
          </p:cNvPr>
          <p:cNvSpPr>
            <a:spLocks noGrp="1"/>
          </p:cNvSpPr>
          <p:nvPr>
            <p:ph type="title"/>
          </p:nvPr>
        </p:nvSpPr>
        <p:spPr>
          <a:xfrm>
            <a:off x="1066800" y="642594"/>
            <a:ext cx="10058400" cy="1097716"/>
          </a:xfrm>
        </p:spPr>
        <p:txBody>
          <a:bodyPr/>
          <a:lstStyle/>
          <a:p>
            <a:pPr algn="ctr"/>
            <a:r>
              <a:rPr lang="en-IN" b="1" u="sng" dirty="0"/>
              <a:t>High-Fidelity Design &amp; Prototype</a:t>
            </a:r>
          </a:p>
        </p:txBody>
      </p:sp>
      <p:sp>
        <p:nvSpPr>
          <p:cNvPr id="3" name="Content Placeholder 2">
            <a:extLst>
              <a:ext uri="{FF2B5EF4-FFF2-40B4-BE49-F238E27FC236}">
                <a16:creationId xmlns:a16="http://schemas.microsoft.com/office/drawing/2014/main" id="{DB09120F-53A9-485C-F2A3-A0694F5AB4F9}"/>
              </a:ext>
            </a:extLst>
          </p:cNvPr>
          <p:cNvSpPr>
            <a:spLocks noGrp="1"/>
          </p:cNvSpPr>
          <p:nvPr>
            <p:ph idx="1"/>
          </p:nvPr>
        </p:nvSpPr>
        <p:spPr>
          <a:xfrm>
            <a:off x="1066800" y="1986117"/>
            <a:ext cx="10058400" cy="4306528"/>
          </a:xfrm>
        </p:spPr>
        <p:txBody>
          <a:bodyPr/>
          <a:lstStyle/>
          <a:p>
            <a:pPr marL="0" indent="0">
              <a:buNone/>
            </a:pPr>
            <a:r>
              <a:rPr lang="en-US" sz="1800" b="1" u="sng" dirty="0"/>
              <a:t>High-Fidelity Design</a:t>
            </a:r>
          </a:p>
          <a:p>
            <a:pPr marL="0" indent="0">
              <a:buNone/>
            </a:pPr>
            <a:r>
              <a:rPr lang="en-US" dirty="0"/>
              <a:t>The final UI was designed with a clean and user-friendly interface focusing on simplicity and accessibility.</a:t>
            </a:r>
          </a:p>
          <a:p>
            <a:pPr marL="0" indent="0">
              <a:buNone/>
            </a:pPr>
            <a:r>
              <a:rPr lang="en-US" sz="1800" b="1" u="sng" dirty="0"/>
              <a:t>Key Features</a:t>
            </a:r>
          </a:p>
          <a:p>
            <a:pPr>
              <a:buFont typeface="Arial" panose="020B0604020202020204" pitchFamily="34" charset="0"/>
              <a:buChar char="•"/>
            </a:pPr>
            <a:r>
              <a:rPr lang="en-US" dirty="0"/>
              <a:t>Simple Dashboard</a:t>
            </a:r>
          </a:p>
          <a:p>
            <a:pPr>
              <a:buFont typeface="Arial" panose="020B0604020202020204" pitchFamily="34" charset="0"/>
              <a:buChar char="•"/>
            </a:pPr>
            <a:r>
              <a:rPr lang="en-US" dirty="0"/>
              <a:t>Medicine Schedule Management</a:t>
            </a:r>
          </a:p>
          <a:p>
            <a:pPr>
              <a:buFont typeface="Arial" panose="020B0604020202020204" pitchFamily="34" charset="0"/>
              <a:buChar char="•"/>
            </a:pPr>
            <a:r>
              <a:rPr lang="en-US" dirty="0"/>
              <a:t>Reminder Notifications</a:t>
            </a:r>
          </a:p>
          <a:p>
            <a:pPr>
              <a:buFont typeface="Arial" panose="020B0604020202020204" pitchFamily="34" charset="0"/>
              <a:buChar char="•"/>
            </a:pPr>
            <a:r>
              <a:rPr lang="en-US" dirty="0"/>
              <a:t>Medication Tracking</a:t>
            </a:r>
          </a:p>
          <a:p>
            <a:pPr>
              <a:buFont typeface="Arial" panose="020B0604020202020204" pitchFamily="34" charset="0"/>
              <a:buChar char="•"/>
            </a:pPr>
            <a:r>
              <a:rPr lang="en-US" dirty="0"/>
              <a:t>User-Friendly Navigation</a:t>
            </a:r>
          </a:p>
          <a:p>
            <a:pPr marL="0" indent="0">
              <a:buNone/>
            </a:pPr>
            <a:r>
              <a:rPr lang="en-US" sz="1800" b="1" u="sng" dirty="0"/>
              <a:t>Prototype</a:t>
            </a:r>
          </a:p>
          <a:p>
            <a:pPr marL="0" indent="0">
              <a:buNone/>
            </a:pPr>
            <a:r>
              <a:rPr lang="en-US" dirty="0"/>
              <a:t>An interactive prototype was created to simulate the user experience and test the application flow.</a:t>
            </a:r>
            <a:endParaRPr lang="en-IN" dirty="0"/>
          </a:p>
        </p:txBody>
      </p:sp>
    </p:spTree>
    <p:extLst>
      <p:ext uri="{BB962C8B-B14F-4D97-AF65-F5344CB8AC3E}">
        <p14:creationId xmlns:p14="http://schemas.microsoft.com/office/powerpoint/2010/main" val="13482457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F41C3-56D2-1E04-681D-9A6FC447ABA2}"/>
              </a:ext>
            </a:extLst>
          </p:cNvPr>
          <p:cNvSpPr>
            <a:spLocks noGrp="1"/>
          </p:cNvSpPr>
          <p:nvPr>
            <p:ph type="title"/>
          </p:nvPr>
        </p:nvSpPr>
        <p:spPr>
          <a:xfrm>
            <a:off x="1066800" y="642594"/>
            <a:ext cx="10058400" cy="960064"/>
          </a:xfrm>
        </p:spPr>
        <p:txBody>
          <a:bodyPr/>
          <a:lstStyle/>
          <a:p>
            <a:pPr algn="ctr"/>
            <a:r>
              <a:rPr lang="en-IN" b="1" u="sng" dirty="0"/>
              <a:t>Usability Testing &amp; Results</a:t>
            </a:r>
          </a:p>
        </p:txBody>
      </p:sp>
      <p:sp>
        <p:nvSpPr>
          <p:cNvPr id="3" name="Content Placeholder 2">
            <a:extLst>
              <a:ext uri="{FF2B5EF4-FFF2-40B4-BE49-F238E27FC236}">
                <a16:creationId xmlns:a16="http://schemas.microsoft.com/office/drawing/2014/main" id="{7F8AF684-F15C-7EF9-3972-AE2C0C67F980}"/>
              </a:ext>
            </a:extLst>
          </p:cNvPr>
          <p:cNvSpPr>
            <a:spLocks noGrp="1"/>
          </p:cNvSpPr>
          <p:nvPr>
            <p:ph idx="1"/>
          </p:nvPr>
        </p:nvSpPr>
        <p:spPr>
          <a:xfrm>
            <a:off x="1066800" y="1681315"/>
            <a:ext cx="10058400" cy="4699819"/>
          </a:xfrm>
        </p:spPr>
        <p:txBody>
          <a:bodyPr>
            <a:normAutofit fontScale="92500" lnSpcReduction="10000"/>
          </a:bodyPr>
          <a:lstStyle/>
          <a:p>
            <a:pPr marL="0" indent="0">
              <a:buNone/>
            </a:pPr>
            <a:r>
              <a:rPr lang="en-US" sz="1900" b="1" u="sng" dirty="0"/>
              <a:t>Usability Testing</a:t>
            </a:r>
          </a:p>
          <a:p>
            <a:pPr marL="0" indent="0">
              <a:buNone/>
            </a:pPr>
            <a:r>
              <a:rPr lang="en-US" dirty="0"/>
              <a:t>The prototype was tested with 3 participants.</a:t>
            </a:r>
          </a:p>
          <a:p>
            <a:pPr marL="0" indent="0">
              <a:buNone/>
            </a:pPr>
            <a:r>
              <a:rPr lang="en-US" sz="1900" b="1" u="sng" dirty="0"/>
              <a:t>Feedback Received</a:t>
            </a:r>
          </a:p>
          <a:p>
            <a:pPr>
              <a:buFont typeface="Arial" panose="020B0604020202020204" pitchFamily="34" charset="0"/>
              <a:buChar char="•"/>
            </a:pPr>
            <a:r>
              <a:rPr lang="en-US" dirty="0"/>
              <a:t>Navigation was easy to understand.</a:t>
            </a:r>
          </a:p>
          <a:p>
            <a:pPr>
              <a:buFont typeface="Arial" panose="020B0604020202020204" pitchFamily="34" charset="0"/>
              <a:buChar char="•"/>
            </a:pPr>
            <a:r>
              <a:rPr lang="en-US" dirty="0"/>
              <a:t>Reminder setup process was simple.</a:t>
            </a:r>
          </a:p>
          <a:p>
            <a:pPr>
              <a:buFont typeface="Arial" panose="020B0604020202020204" pitchFamily="34" charset="0"/>
              <a:buChar char="•"/>
            </a:pPr>
            <a:r>
              <a:rPr lang="en-US" dirty="0"/>
              <a:t>Users liked the clean interface.</a:t>
            </a:r>
          </a:p>
          <a:p>
            <a:pPr>
              <a:buFont typeface="Arial" panose="020B0604020202020204" pitchFamily="34" charset="0"/>
              <a:buChar char="•"/>
            </a:pPr>
            <a:r>
              <a:rPr lang="en-US" dirty="0"/>
              <a:t>Some users requested larger reminder notifications.</a:t>
            </a:r>
          </a:p>
          <a:p>
            <a:pPr marL="0" indent="0">
              <a:buNone/>
            </a:pPr>
            <a:r>
              <a:rPr lang="en-US" sz="1900" b="1" u="sng" dirty="0"/>
              <a:t>Improvements Made</a:t>
            </a:r>
          </a:p>
          <a:p>
            <a:pPr>
              <a:buFont typeface="Arial" panose="020B0604020202020204" pitchFamily="34" charset="0"/>
              <a:buChar char="•"/>
            </a:pPr>
            <a:r>
              <a:rPr lang="en-US" dirty="0"/>
              <a:t>Increased notification visibility.</a:t>
            </a:r>
          </a:p>
          <a:p>
            <a:pPr>
              <a:buFont typeface="Arial" panose="020B0604020202020204" pitchFamily="34" charset="0"/>
              <a:buChar char="•"/>
            </a:pPr>
            <a:r>
              <a:rPr lang="en-US" dirty="0"/>
              <a:t>Simplified medicine entry form.</a:t>
            </a:r>
          </a:p>
          <a:p>
            <a:pPr>
              <a:buFont typeface="Arial" panose="020B0604020202020204" pitchFamily="34" charset="0"/>
              <a:buChar char="•"/>
            </a:pPr>
            <a:r>
              <a:rPr lang="en-US" dirty="0"/>
              <a:t>Improved dashboard layout.</a:t>
            </a:r>
          </a:p>
          <a:p>
            <a:pPr marL="0" indent="0">
              <a:buNone/>
            </a:pPr>
            <a:r>
              <a:rPr lang="en-US" sz="1900" b="1" u="sng" dirty="0"/>
              <a:t>Conclusion</a:t>
            </a:r>
          </a:p>
          <a:p>
            <a:pPr marL="0" indent="0">
              <a:buNone/>
            </a:pPr>
            <a:r>
              <a:rPr lang="en-US" dirty="0"/>
              <a:t>The </a:t>
            </a:r>
            <a:r>
              <a:rPr lang="en-US" dirty="0" err="1"/>
              <a:t>MedAlert</a:t>
            </a:r>
            <a:r>
              <a:rPr lang="en-US" dirty="0"/>
              <a:t> application successfully addresses the problem of missed medications by providing timely reminders and medication tracking features. User feedback helped improve the overall experience and usability of the application.</a:t>
            </a:r>
            <a:endParaRPr lang="en-IN" dirty="0"/>
          </a:p>
        </p:txBody>
      </p:sp>
    </p:spTree>
    <p:extLst>
      <p:ext uri="{BB962C8B-B14F-4D97-AF65-F5344CB8AC3E}">
        <p14:creationId xmlns:p14="http://schemas.microsoft.com/office/powerpoint/2010/main" val="7780899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02E2DE45-F7D1-FAB6-1278-828B63F27FC3}"/>
              </a:ext>
            </a:extLst>
          </p:cNvPr>
          <p:cNvSpPr>
            <a:spLocks noGrp="1"/>
          </p:cNvSpPr>
          <p:nvPr>
            <p:ph idx="1"/>
          </p:nvPr>
        </p:nvSpPr>
        <p:spPr>
          <a:xfrm>
            <a:off x="978310" y="2278134"/>
            <a:ext cx="10058400" cy="2301732"/>
          </a:xfrm>
        </p:spPr>
        <p:txBody>
          <a:bodyPr/>
          <a:lstStyle/>
          <a:p>
            <a:pPr marL="0" indent="0">
              <a:buNone/>
            </a:pPr>
            <a:r>
              <a:rPr lang="en-US" sz="3600" b="1" u="sng" dirty="0"/>
              <a:t>Thank You</a:t>
            </a:r>
          </a:p>
          <a:p>
            <a:pPr marL="0" indent="0">
              <a:buNone/>
            </a:pPr>
            <a:r>
              <a:rPr lang="en-US" dirty="0"/>
              <a:t>Thank you for reviewing this UX Case Study.</a:t>
            </a:r>
          </a:p>
          <a:p>
            <a:pPr marL="0" indent="0">
              <a:buNone/>
            </a:pPr>
            <a:r>
              <a:rPr lang="en-US" sz="2400" b="1" u="sng" dirty="0"/>
              <a:t>Prepared By</a:t>
            </a:r>
          </a:p>
          <a:p>
            <a:pPr marL="0" indent="0">
              <a:buNone/>
            </a:pPr>
            <a:r>
              <a:rPr lang="en-US" dirty="0"/>
              <a:t>Sahil Pandey</a:t>
            </a:r>
            <a:endParaRPr lang="en-IN" dirty="0"/>
          </a:p>
        </p:txBody>
      </p:sp>
    </p:spTree>
    <p:extLst>
      <p:ext uri="{BB962C8B-B14F-4D97-AF65-F5344CB8AC3E}">
        <p14:creationId xmlns:p14="http://schemas.microsoft.com/office/powerpoint/2010/main" val="319225781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VTI">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Savon">
      <a:majorFont>
        <a:latin typeface="Avenir Next LT Pro Light" panose="02020404030301010803"/>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venir Next LT Pro" panose="02020404030301010803"/>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80000"/>
                <a:shade val="100000"/>
                <a:satMod val="300000"/>
              </a:schemeClr>
            </a:gs>
            <a:gs pos="100000">
              <a:schemeClr val="phClr">
                <a:tint val="100000"/>
                <a:shade val="30000"/>
                <a:satMod val="200000"/>
              </a:schemeClr>
            </a:gs>
          </a:gsLst>
          <a:path path="circle">
            <a:fillToRect l="50000" t="50000" r="50000" b="50000"/>
          </a:path>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VTI" id="{A72E8C35-66DD-49F8-AF66-813F19B983AE}" vid="{93CCBC76-B7A1-4C3D-93EA-5CE34C4670F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Custom 46">
    <a:dk1>
      <a:sysClr val="windowText" lastClr="000000"/>
    </a:dk1>
    <a:lt1>
      <a:sysClr val="window" lastClr="FFFFFF"/>
    </a:lt1>
    <a:dk2>
      <a:srgbClr val="121316"/>
    </a:dk2>
    <a:lt2>
      <a:srgbClr val="FEFCF7"/>
    </a:lt2>
    <a:accent1>
      <a:srgbClr val="8394A4"/>
    </a:accent1>
    <a:accent2>
      <a:srgbClr val="65739F"/>
    </a:accent2>
    <a:accent3>
      <a:srgbClr val="B2AC8A"/>
    </a:accent3>
    <a:accent4>
      <a:srgbClr val="879BB3"/>
    </a:accent4>
    <a:accent5>
      <a:srgbClr val="D7B579"/>
    </a:accent5>
    <a:accent6>
      <a:srgbClr val="8A9B89"/>
    </a:accent6>
    <a:hlink>
      <a:srgbClr val="85C4D2"/>
    </a:hlink>
    <a:folHlink>
      <a:srgbClr val="8E8CA7"/>
    </a:folHlink>
  </a:clrScheme>
</a:themeOverride>
</file>

<file path=ppt/theme/themeOverride2.xml><?xml version="1.0" encoding="utf-8"?>
<a:themeOverride xmlns:a="http://schemas.openxmlformats.org/drawingml/2006/main">
  <a:clrScheme name="Custom 46">
    <a:dk1>
      <a:sysClr val="windowText" lastClr="000000"/>
    </a:dk1>
    <a:lt1>
      <a:sysClr val="window" lastClr="FFFFFF"/>
    </a:lt1>
    <a:dk2>
      <a:srgbClr val="121316"/>
    </a:dk2>
    <a:lt2>
      <a:srgbClr val="FEFCF7"/>
    </a:lt2>
    <a:accent1>
      <a:srgbClr val="8394A4"/>
    </a:accent1>
    <a:accent2>
      <a:srgbClr val="65739F"/>
    </a:accent2>
    <a:accent3>
      <a:srgbClr val="B2AC8A"/>
    </a:accent3>
    <a:accent4>
      <a:srgbClr val="879BB3"/>
    </a:accent4>
    <a:accent5>
      <a:srgbClr val="D7B579"/>
    </a:accent5>
    <a:accent6>
      <a:srgbClr val="8A9B89"/>
    </a:accent6>
    <a:hlink>
      <a:srgbClr val="85C4D2"/>
    </a:hlink>
    <a:folHlink>
      <a:srgbClr val="8E8CA7"/>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1F91CDEB-92ED-41DC-BF33-2916A768762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259D436-C82E-43E0-8A01-53DF9CED6032}">
  <ds:schemaRefs>
    <ds:schemaRef ds:uri="http://schemas.microsoft.com/sharepoint/v3/contenttype/forms"/>
  </ds:schemaRefs>
</ds:datastoreItem>
</file>

<file path=customXml/itemProps3.xml><?xml version="1.0" encoding="utf-8"?>
<ds:datastoreItem xmlns:ds="http://schemas.openxmlformats.org/officeDocument/2006/customXml" ds:itemID="{946BCBFB-BBC7-42F1-95CD-058E172363A0}">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{F1DCC6CA-38FF-4887-AA0D-20C88FB405DE}TF522ea272-7fed-4917-a421-5e6ae99a6bbed5eddc9a_win32-854160eadf3d</Template>
  <TotalTime>77</TotalTime>
  <Words>1016</Words>
  <Application>Microsoft Office PowerPoint</Application>
  <PresentationFormat>Widescreen</PresentationFormat>
  <Paragraphs>176</Paragraphs>
  <Slides>13</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Avenir Next LT Pro</vt:lpstr>
      <vt:lpstr>Avenir Next LT Pro Light</vt:lpstr>
      <vt:lpstr>Calibri</vt:lpstr>
      <vt:lpstr>Garamond</vt:lpstr>
      <vt:lpstr>SavonVTI</vt:lpstr>
      <vt:lpstr>Med Alert</vt:lpstr>
      <vt:lpstr>Problem Statement</vt:lpstr>
      <vt:lpstr>Empathize – Understanding the Users</vt:lpstr>
      <vt:lpstr>Research Findings</vt:lpstr>
      <vt:lpstr>Define – Problem Definition</vt:lpstr>
      <vt:lpstr>User Persona</vt:lpstr>
      <vt:lpstr>How Might We (HMW) Statement</vt:lpstr>
      <vt:lpstr>Ideation &amp; Solutions</vt:lpstr>
      <vt:lpstr>User Flow</vt:lpstr>
      <vt:lpstr>Wireframes</vt:lpstr>
      <vt:lpstr>High-Fidelity Design &amp; Prototype</vt:lpstr>
      <vt:lpstr>Usability Testing &amp; Results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sahil pandey</dc:creator>
  <cp:lastModifiedBy>sahil pandey</cp:lastModifiedBy>
  <cp:revision>1</cp:revision>
  <dcterms:created xsi:type="dcterms:W3CDTF">2026-06-15T10:12:48Z</dcterms:created>
  <dcterms:modified xsi:type="dcterms:W3CDTF">2026-06-15T11:29:52Z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